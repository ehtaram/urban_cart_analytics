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3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DE80"/>
    <a:srgbClr val="151E32"/>
    <a:srgbClr val="1E293B"/>
    <a:srgbClr val="E2E8F0"/>
    <a:srgbClr val="FACC15"/>
    <a:srgbClr val="94A3B8"/>
    <a:srgbClr val="38BDF8"/>
    <a:srgbClr val="0F172A"/>
    <a:srgbClr val="FA8560"/>
    <a:srgbClr val="EF2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33" d="100"/>
        <a:sy n="33" d="100"/>
      </p:scale>
      <p:origin x="0" y="-45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B4BF-E43E-A9D7-F979-3241EB977D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B94273-8C0A-D200-A101-93CAE2C5F5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68BFE-72AA-79C9-3D38-1D53B8AA5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C70F-954B-4BE5-B6EC-FF7E65F0FFD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4D4B6-5C8C-9632-9AAB-0004F36B9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C37E7-958A-6F7B-CA37-54652656F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38FC-EE50-44A5-98BA-E78B7128EA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974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7E5B7-59A3-B400-6362-B4BF27A0C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3EF98-2125-B76E-DD58-8D5F7ACB2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75AEC-CEE5-82B4-A2E2-C02451EE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C70F-954B-4BE5-B6EC-FF7E65F0FFD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C23D7-1426-9BA2-B111-3B70DF2D6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26657-7BED-D977-F531-7A8CBB66C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38FC-EE50-44A5-98BA-E78B7128EA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370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DB43E-76AB-8CD7-EE32-7E0BBB730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563697-F041-DE85-6317-844A55C72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7FBB9-2EB3-7428-5EB1-3C187FBAE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C70F-954B-4BE5-B6EC-FF7E65F0FFD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6984C-0B4F-96A3-451D-25D5577C0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F2C88-C765-5615-A925-4804488C4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38FC-EE50-44A5-98BA-E78B7128EA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835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651E3-C8D8-3729-92B8-BC14742D5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B923B-B831-AE71-7563-548AD5D482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269D96-397C-FC0D-06F4-D3CCAD7030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587615-AA07-1D68-7D9A-5AF65B203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C70F-954B-4BE5-B6EC-FF7E65F0FFD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4450CD-B6DA-22B3-9CB2-F05522705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BB4E01-359B-7E66-8A56-BDE48C95A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38FC-EE50-44A5-98BA-E78B7128EA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341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15D6-E6EA-0359-E70F-6396273A0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B17AC-AEE4-BDCB-312D-E43BBA587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F2E3E6-C151-0147-3A91-CF692594EA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75F75-53B9-3193-15DD-5F6BC37469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E0447E-75E0-62B5-E233-E3FB368780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503E85-0817-E002-93EB-A41F9A845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C70F-954B-4BE5-B6EC-FF7E65F0FFD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9B4252-15D0-40BA-70CB-79BDB386F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FE68B0-0A8F-BD3E-E846-8124F56FF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38FC-EE50-44A5-98BA-E78B7128EA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32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0BF0C-6607-754B-9D8B-E44B9FBCF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A5F6F6-3FD6-867C-A162-DBA64BB70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C70F-954B-4BE5-B6EC-FF7E65F0FFD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4C9F07-C887-A735-9481-A2BFEFA61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405E21-240B-849E-53E2-6A9EA40E8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38FC-EE50-44A5-98BA-E78B7128EA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692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F691FD-B6CD-8E18-93DB-A38572099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C70F-954B-4BE5-B6EC-FF7E65F0FFD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145BEA-2268-2134-A69E-0C293826E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66F74-763C-6EA2-5710-2F17FB139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38FC-EE50-44A5-98BA-E78B7128EA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720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C0C17-DD8D-43AA-3765-439F886A8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5DBAF-9F10-7F8B-820F-4C3C48951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72CCA5-EB39-77F4-5CB9-52E7F61E55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31B0CE-8901-C381-2B0E-122953796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C70F-954B-4BE5-B6EC-FF7E65F0FFD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BAF2D-AD3E-B63E-0912-720AF5A1E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79B38E-1721-27AA-4AF1-48CEE763E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38FC-EE50-44A5-98BA-E78B7128EA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237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AB8A2-E548-E301-C222-9F3C0B258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69BB6A-8AB4-D870-5CF7-638E7707AC8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0F7FBB-88F9-EA93-7BF6-F0BB306709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0D103-DE3F-AABE-C83A-24E8E52BB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C70F-954B-4BE5-B6EC-FF7E65F0FFD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4E323-9626-437B-7141-3CD88D9B2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6F884-D784-BDE7-34F8-1161240D9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38FC-EE50-44A5-98BA-E78B7128EA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929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8CB9F-90B1-3D77-AC04-C6805DF9E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CA158E-BF6E-8E8C-8731-E51A2B1E2C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3521F-1CDA-41C0-54D1-3D513472C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C70F-954B-4BE5-B6EC-FF7E65F0FFD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77980-B50E-2BC2-DA10-5867BB1C8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FF72F-3C6D-577F-E4A1-F81C267C8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38FC-EE50-44A5-98BA-E78B7128EA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530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6A9C1-37C9-2DE8-D99C-ACD40AF24E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9B86A-1A42-0155-1017-DEEF169F4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32E00-9CC2-0DC1-A653-85CC978F3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FC70F-954B-4BE5-B6EC-FF7E65F0FFD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7DF9D-ED3A-95F0-A15A-58C1BBEDC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B4D49-6795-C29B-D67B-8BC2816F6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D38FC-EE50-44A5-98BA-E78B7128EA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175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DD66F0-2047-58E0-036E-BA69C9879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86F966-8EFB-85F3-2491-57FBB1B2E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94792-68FA-061F-61D2-FE75145418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FC70F-954B-4BE5-B6EC-FF7E65F0FFD5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5ED15-5ADC-3578-F005-180BDB2487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7F609-E594-A8F4-3FAB-0FD739583F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1D38FC-EE50-44A5-98BA-E78B7128EA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353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C6A80-BC20-9864-E3B5-1FBE26DDC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4551" y="1283764"/>
            <a:ext cx="10798558" cy="4211816"/>
          </a:xfrm>
        </p:spPr>
        <p:txBody>
          <a:bodyPr>
            <a:normAutofit/>
          </a:bodyPr>
          <a:lstStyle/>
          <a:p>
            <a:r>
              <a:rPr lang="en-IN" sz="2000" b="1" dirty="0">
                <a:solidFill>
                  <a:srgbClr val="38BD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QUICK-COMMERCE UNIT ECONOMICS &amp; LOGISTICS INTELLIGENCE </a:t>
            </a:r>
            <a:br>
              <a:rPr lang="en-IN" sz="1600" b="1" dirty="0">
                <a:solidFill>
                  <a:srgbClr val="38BD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IN" sz="2800" b="1" dirty="0">
                <a:solidFill>
                  <a:srgbClr val="38BDF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IN" sz="2800" dirty="0">
                <a:solidFill>
                  <a:srgbClr val="FFFFFF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URBANCART: MARKETPLACE INTELLIGENCE &amp; DARKSTORE OPTIMIZATION</a:t>
            </a:r>
            <a:br>
              <a:rPr lang="en-IN" sz="2800" dirty="0">
                <a:solidFill>
                  <a:srgbClr val="FFFFFF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br>
              <a:rPr lang="en-IN" sz="2000" dirty="0">
                <a:solidFill>
                  <a:srgbClr val="FFFFFF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lang="en-IN" sz="2000" dirty="0">
                <a:solidFill>
                  <a:srgbClr val="FACC15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Diagnosing Delivery Deficits, SLA Breaches, and Contribution Margin Recovery</a:t>
            </a:r>
            <a:br>
              <a:rPr lang="en-IN" sz="1600" dirty="0">
                <a:solidFill>
                  <a:srgbClr val="FACC15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br>
              <a:rPr lang="en-IN" sz="1600" dirty="0">
                <a:solidFill>
                  <a:srgbClr val="FACC15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en-IN" sz="1600" dirty="0">
                <a:solidFill>
                  <a:srgbClr val="23335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--------------------------------------------------------------------------------------------------------------</a:t>
            </a:r>
            <a:br>
              <a:rPr lang="en-IN" sz="1600" dirty="0">
                <a:solidFill>
                  <a:srgbClr val="23335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br>
              <a:rPr lang="en-IN" sz="2000" dirty="0">
                <a:solidFill>
                  <a:srgbClr val="23335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en-IN" sz="2200" b="1" dirty="0">
                <a:solidFill>
                  <a:srgbClr val="E2E8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Developed By: </a:t>
            </a:r>
            <a:r>
              <a:rPr lang="en-IN" sz="2200" b="1" dirty="0">
                <a:solidFill>
                  <a:srgbClr val="E2E8F0"/>
                </a:solidFill>
              </a:rPr>
              <a:t>Mahammad Ehtaramullah</a:t>
            </a:r>
            <a:br>
              <a:rPr lang="en-IN" sz="1200" b="1" dirty="0">
                <a:solidFill>
                  <a:srgbClr val="E2E8F0"/>
                </a:solidFill>
              </a:rPr>
            </a:br>
            <a:br>
              <a:rPr lang="en-IN" sz="1200" b="1" dirty="0">
                <a:solidFill>
                  <a:srgbClr val="E2E8F0"/>
                </a:solidFill>
              </a:rPr>
            </a:br>
            <a:r>
              <a:rPr lang="en-IN" sz="2200" b="1" dirty="0">
                <a:solidFill>
                  <a:srgbClr val="94A3B8"/>
                </a:solidFill>
              </a:rPr>
              <a:t>Technical Stack: Python (NumPy/Pandas/SciPy) | Excel | PostgreSQL | Power BI (DAX)</a:t>
            </a:r>
            <a:br>
              <a:rPr lang="en-IN" sz="1200" b="1" dirty="0">
                <a:solidFill>
                  <a:srgbClr val="94A3B8"/>
                </a:solidFill>
              </a:rPr>
            </a:br>
            <a:br>
              <a:rPr lang="en-IN" sz="1200" b="1" dirty="0">
                <a:solidFill>
                  <a:srgbClr val="94A3B8"/>
                </a:solidFill>
              </a:rPr>
            </a:br>
            <a:r>
              <a:rPr lang="en-IN" sz="2200" b="1" dirty="0">
                <a:solidFill>
                  <a:srgbClr val="94A3B8"/>
                </a:solidFill>
              </a:rPr>
              <a:t>Focus: 7,000 </a:t>
            </a:r>
            <a:r>
              <a:rPr lang="en-IN" sz="2200" b="1" dirty="0" err="1">
                <a:solidFill>
                  <a:srgbClr val="94A3B8"/>
                </a:solidFill>
              </a:rPr>
              <a:t>Fulfillment</a:t>
            </a:r>
            <a:r>
              <a:rPr lang="en-IN" sz="2200" b="1" dirty="0">
                <a:solidFill>
                  <a:srgbClr val="94A3B8"/>
                </a:solidFill>
              </a:rPr>
              <a:t> Records | 15 Regional </a:t>
            </a:r>
            <a:r>
              <a:rPr lang="en-IN" sz="2200" b="1" dirty="0" err="1">
                <a:solidFill>
                  <a:srgbClr val="94A3B8"/>
                </a:solidFill>
              </a:rPr>
              <a:t>Darkstores</a:t>
            </a:r>
            <a:r>
              <a:rPr lang="en-IN" sz="2200" b="1" dirty="0">
                <a:solidFill>
                  <a:srgbClr val="94A3B8"/>
                </a:solidFill>
              </a:rPr>
              <a:t> | 3-Tier Diagnostic Architecture</a:t>
            </a:r>
            <a:endParaRPr lang="en-IN" sz="2200" b="1" dirty="0">
              <a:solidFill>
                <a:srgbClr val="94A3B8"/>
              </a:solidFill>
              <a:latin typeface="Segoe UI Semibold" panose="020B0702040204020203" pitchFamily="34" charset="0"/>
              <a:ea typeface="Segoe UI Black" panose="020B0A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832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35EC6-B188-5505-C71D-900F09B67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988" y="278356"/>
            <a:ext cx="11401063" cy="746566"/>
          </a:xfrm>
        </p:spPr>
        <p:txBody>
          <a:bodyPr>
            <a:normAutofit fontScale="90000"/>
          </a:bodyPr>
          <a:lstStyle/>
          <a:p>
            <a:br>
              <a:rPr lang="en-IN" sz="2400" dirty="0">
                <a:solidFill>
                  <a:srgbClr val="38BDF8"/>
                </a:solidFill>
              </a:rPr>
            </a:br>
            <a:r>
              <a:rPr lang="en-IN" sz="2400" dirty="0">
                <a:solidFill>
                  <a:srgbClr val="38BDF8"/>
                </a:solidFill>
              </a:rPr>
              <a:t>01. EXECUTIVE CONTEXT | THE UNIT ECONOMICS SQUEEZE</a:t>
            </a:r>
            <a:br>
              <a:rPr lang="en-IN" dirty="0">
                <a:solidFill>
                  <a:srgbClr val="38BDF8"/>
                </a:solidFill>
              </a:rPr>
            </a:br>
            <a:r>
              <a:rPr lang="en-IN" sz="2200" dirty="0">
                <a:solidFill>
                  <a:srgbClr val="94A3B8"/>
                </a:solidFill>
              </a:rPr>
              <a:t>Why top-line scale masks bottom-line cash burn in 10-15 minute grocery fulfilment?</a:t>
            </a:r>
            <a:br>
              <a:rPr lang="en-IN" sz="2200" dirty="0">
                <a:solidFill>
                  <a:srgbClr val="94A3B8"/>
                </a:solidFill>
              </a:rPr>
            </a:br>
            <a:br>
              <a:rPr lang="en-IN" sz="2200" dirty="0">
                <a:solidFill>
                  <a:srgbClr val="94A3B8"/>
                </a:solidFill>
              </a:rPr>
            </a:br>
            <a:endParaRPr lang="en-IN" sz="2200" dirty="0">
              <a:solidFill>
                <a:srgbClr val="38BDF8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749D406-6922-FC71-D093-6773AE9337B1}"/>
              </a:ext>
            </a:extLst>
          </p:cNvPr>
          <p:cNvSpPr/>
          <p:nvPr/>
        </p:nvSpPr>
        <p:spPr>
          <a:xfrm>
            <a:off x="207357" y="1217339"/>
            <a:ext cx="4344978" cy="5271951"/>
          </a:xfrm>
          <a:prstGeom prst="roundRect">
            <a:avLst/>
          </a:prstGeom>
          <a:solidFill>
            <a:srgbClr val="151E32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ACC15"/>
                </a:solidFill>
              </a:rPr>
              <a:t>The Hyperlocal Dilemma</a:t>
            </a:r>
          </a:p>
          <a:p>
            <a:pPr algn="ctr"/>
            <a:endParaRPr lang="en-IN" dirty="0">
              <a:solidFill>
                <a:srgbClr val="FACC15"/>
              </a:solidFill>
            </a:endParaRPr>
          </a:p>
          <a:p>
            <a:pPr marL="342900" indent="-342900" algn="ctr">
              <a:buFont typeface="+mj-lt"/>
              <a:buAutoNum type="arabicPeriod"/>
            </a:pPr>
            <a:r>
              <a:rPr lang="en-IN" sz="16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Unregulated Micro-Orders:</a:t>
            </a:r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1600" dirty="0"/>
              <a:t>Customers purchasing sub-₹200 baskets trigger high warehouse pick-pack and rider travel costs that far outweigh the basket's gross product margin.</a:t>
            </a:r>
          </a:p>
          <a:p>
            <a:pPr marL="342900" indent="-342900" algn="ctr">
              <a:buFont typeface="+mj-lt"/>
              <a:buAutoNum type="arabicPeriod"/>
            </a:pPr>
            <a:endParaRPr lang="en-IN" sz="1600" dirty="0"/>
          </a:p>
          <a:p>
            <a:pPr marL="342900" indent="-342900" algn="ctr">
              <a:buFont typeface="+mj-lt"/>
              <a:buAutoNum type="arabicPeriod"/>
            </a:pPr>
            <a:r>
              <a:rPr lang="en-IN" sz="16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Logistics Deficit:</a:t>
            </a:r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1600" dirty="0"/>
              <a:t>The business incurred an average delivery payout of ~₹50.03 per dispatch to riders while recovering an average of only ~₹15.53 per order in customer delivery fees, generating a net delivery loss of -₹2.41 Lakhs across the network.</a:t>
            </a:r>
          </a:p>
          <a:p>
            <a:pPr marL="342900" indent="-342900" algn="ctr">
              <a:buFont typeface="+mj-lt"/>
              <a:buAutoNum type="arabicPeriod"/>
            </a:pPr>
            <a:endParaRPr lang="en-IN" sz="1600" dirty="0"/>
          </a:p>
          <a:p>
            <a:pPr marL="342900" indent="-342900" algn="ctr">
              <a:buFont typeface="+mj-lt"/>
              <a:buAutoNum type="arabicPeriod"/>
            </a:pPr>
            <a:r>
              <a:rPr lang="en-IN" sz="16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Operational Delay Spillover:</a:t>
            </a:r>
            <a:r>
              <a:rPr lang="en-IN" sz="1600" b="1" dirty="0"/>
              <a:t> </a:t>
            </a:r>
            <a:r>
              <a:rPr lang="en-IN" sz="1600" dirty="0" err="1"/>
              <a:t>Fulfillment</a:t>
            </a:r>
            <a:r>
              <a:rPr lang="en-IN" sz="1600" dirty="0"/>
              <a:t> promises of 10 to 15 minutes broke down during peak evening hours, causing customer doorstep cancellations and a return rate of 7.86%.</a:t>
            </a:r>
            <a:endParaRPr lang="en-IN" sz="1600" dirty="0">
              <a:solidFill>
                <a:srgbClr val="FACC15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8B340E9-17D4-AF39-9793-FCD755518AE7}"/>
              </a:ext>
            </a:extLst>
          </p:cNvPr>
          <p:cNvSpPr/>
          <p:nvPr/>
        </p:nvSpPr>
        <p:spPr>
          <a:xfrm>
            <a:off x="4709653" y="1217338"/>
            <a:ext cx="4188542" cy="5362305"/>
          </a:xfrm>
          <a:prstGeom prst="roundRect">
            <a:avLst/>
          </a:prstGeom>
          <a:solidFill>
            <a:srgbClr val="151E32"/>
          </a:solidFill>
          <a:ln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 dirty="0">
                <a:solidFill>
                  <a:srgbClr val="38BDF8"/>
                </a:solidFill>
              </a:rPr>
              <a:t>Unit Economics Formula Bridge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en-IN" sz="2000" b="1" dirty="0">
                <a:solidFill>
                  <a:srgbClr val="92D050"/>
                </a:solidFill>
              </a:rPr>
              <a:t>Monospaced Financial Breakdown:</a:t>
            </a:r>
          </a:p>
          <a:p>
            <a:pPr algn="ctr"/>
            <a:endParaRPr lang="en-IN" dirty="0">
              <a:solidFill>
                <a:srgbClr val="38BDF8"/>
              </a:solidFill>
            </a:endParaRPr>
          </a:p>
          <a:p>
            <a:pPr marL="342900" indent="-342900" algn="ctr">
              <a:buFont typeface="+mj-lt"/>
              <a:buAutoNum type="arabicPeriod"/>
            </a:pPr>
            <a:r>
              <a:rPr lang="en-IN" sz="1600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Catalog</a:t>
            </a:r>
            <a:r>
              <a:rPr lang="en-IN" sz="1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Listed Value (GMV): </a:t>
            </a:r>
            <a:r>
              <a:rPr lang="en-IN" sz="1600" b="1" dirty="0"/>
              <a:t>₹3.99M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IN" sz="1600" b="1" i="1" dirty="0">
                <a:solidFill>
                  <a:srgbClr val="FA8560"/>
                </a:solidFill>
              </a:rPr>
              <a:t>(-) Promotional Discount Burn:</a:t>
            </a:r>
            <a:r>
              <a:rPr lang="en-IN" sz="1600" b="1" dirty="0">
                <a:solidFill>
                  <a:srgbClr val="FA8560"/>
                </a:solidFill>
              </a:rPr>
              <a:t> </a:t>
            </a:r>
            <a:r>
              <a:rPr lang="en-IN" sz="1600" b="1" dirty="0"/>
              <a:t>-₹0.48M</a:t>
            </a:r>
            <a:r>
              <a:rPr lang="en-IN" sz="1600" dirty="0"/>
              <a:t> (12.0% top-line markdown)</a:t>
            </a:r>
            <a:endParaRPr lang="en-IN" sz="1600" b="1" dirty="0"/>
          </a:p>
          <a:p>
            <a:pPr marL="342900" indent="-342900" algn="ctr">
              <a:buFont typeface="+mj-lt"/>
              <a:buAutoNum type="arabicPeriod"/>
            </a:pPr>
            <a:r>
              <a:rPr lang="en-IN" sz="1600" b="1" dirty="0">
                <a:solidFill>
                  <a:srgbClr val="94A3B8"/>
                </a:solidFill>
              </a:rPr>
              <a:t>Net Realized Revenue:</a:t>
            </a:r>
            <a:r>
              <a:rPr lang="en-IN" sz="1600" dirty="0">
                <a:solidFill>
                  <a:srgbClr val="94A3B8"/>
                </a:solidFill>
              </a:rPr>
              <a:t> </a:t>
            </a:r>
            <a:r>
              <a:rPr lang="en-IN" sz="1600" b="1" dirty="0"/>
              <a:t>₹3.51M</a:t>
            </a:r>
            <a:endParaRPr lang="en-IN" sz="1600" dirty="0"/>
          </a:p>
          <a:p>
            <a:pPr marL="342900" indent="-342900" algn="ctr">
              <a:buFont typeface="+mj-lt"/>
              <a:buAutoNum type="arabicPeriod"/>
            </a:pPr>
            <a:r>
              <a:rPr lang="en-IN" sz="1600" b="1" i="1" dirty="0">
                <a:solidFill>
                  <a:srgbClr val="FA8560"/>
                </a:solidFill>
              </a:rPr>
              <a:t>(-) Wholesale Product Procurement (COGS):</a:t>
            </a:r>
            <a:r>
              <a:rPr lang="en-IN" sz="1600" dirty="0"/>
              <a:t> </a:t>
            </a:r>
            <a:r>
              <a:rPr lang="en-IN" sz="1600" b="1" dirty="0"/>
              <a:t>-₹2.78M</a:t>
            </a:r>
            <a:endParaRPr lang="en-IN" sz="1600" dirty="0"/>
          </a:p>
          <a:p>
            <a:pPr marL="342900" indent="-342900" algn="ctr">
              <a:buFont typeface="+mj-lt"/>
              <a:buAutoNum type="arabicPeriod"/>
            </a:pPr>
            <a:r>
              <a:rPr lang="en-IN" sz="1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Contribution Margin 1 (CM1): </a:t>
            </a:r>
            <a:r>
              <a:rPr lang="en-IN" sz="1600" b="1" dirty="0"/>
              <a:t>₹729.80K</a:t>
            </a:r>
            <a:r>
              <a:rPr lang="en-IN" sz="1600" dirty="0"/>
              <a:t> (Gross Product Margin)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IN" sz="1600" i="1" dirty="0">
                <a:solidFill>
                  <a:srgbClr val="FA8560"/>
                </a:solidFill>
              </a:rPr>
              <a:t>(-) Net Logistics Fleet Deficit:</a:t>
            </a:r>
            <a:r>
              <a:rPr lang="en-IN" sz="1600" dirty="0">
                <a:solidFill>
                  <a:srgbClr val="FA8560"/>
                </a:solidFill>
              </a:rPr>
              <a:t> </a:t>
            </a:r>
            <a:r>
              <a:rPr lang="en-IN" sz="1600" b="1" dirty="0"/>
              <a:t>-₹241.44K</a:t>
            </a:r>
            <a:r>
              <a:rPr lang="en-IN" sz="1600" dirty="0"/>
              <a:t> (Rider pay minus customer fees)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IN" sz="1600" i="1" dirty="0">
                <a:solidFill>
                  <a:srgbClr val="FA8560"/>
                </a:solidFill>
              </a:rPr>
              <a:t>(-) Payment Gateway Processing Fees (PG MDR):</a:t>
            </a:r>
            <a:r>
              <a:rPr lang="en-IN" sz="1600" dirty="0"/>
              <a:t> </a:t>
            </a:r>
            <a:r>
              <a:rPr lang="en-IN" sz="1600" b="1" dirty="0"/>
              <a:t>-₹63.98K</a:t>
            </a:r>
            <a:endParaRPr lang="en-IN" sz="1600" dirty="0"/>
          </a:p>
          <a:p>
            <a:pPr marL="342900" indent="-342900" algn="ctr">
              <a:buFont typeface="+mj-lt"/>
              <a:buAutoNum type="arabicPeriod"/>
            </a:pPr>
            <a:r>
              <a:rPr lang="en-IN" sz="1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Final Contribution Margin 2 (CM2):</a:t>
            </a:r>
            <a:r>
              <a:rPr lang="en-IN" sz="1600" dirty="0"/>
              <a:t> </a:t>
            </a:r>
            <a:r>
              <a:rPr lang="en-IN" sz="1600" b="1" dirty="0"/>
              <a:t>₹424.38K</a:t>
            </a:r>
            <a:r>
              <a:rPr lang="en-IN" sz="1600" dirty="0"/>
              <a:t> (12.1% net realization)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AE5B48D-995A-9677-91A2-889B880A096C}"/>
              </a:ext>
            </a:extLst>
          </p:cNvPr>
          <p:cNvSpPr/>
          <p:nvPr/>
        </p:nvSpPr>
        <p:spPr>
          <a:xfrm>
            <a:off x="9065342" y="1217338"/>
            <a:ext cx="2919301" cy="5362305"/>
          </a:xfrm>
          <a:prstGeom prst="roundRect">
            <a:avLst/>
          </a:prstGeom>
          <a:solidFill>
            <a:srgbClr val="151E32"/>
          </a:solidFill>
          <a:ln>
            <a:solidFill>
              <a:srgbClr val="4ADE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u="sng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Abbreviations</a:t>
            </a:r>
            <a:r>
              <a:rPr lang="en-IN" sz="1500" b="1" u="sng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:</a:t>
            </a:r>
          </a:p>
          <a:p>
            <a:pPr algn="ctr"/>
            <a:endParaRPr lang="en-IN" sz="1500" b="1" dirty="0">
              <a:solidFill>
                <a:srgbClr val="FFFF00"/>
              </a:solidFill>
            </a:endParaRPr>
          </a:p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IN" sz="1500" b="1" dirty="0">
                <a:solidFill>
                  <a:srgbClr val="FFFF00"/>
                </a:solidFill>
              </a:rPr>
              <a:t>GMV:</a:t>
            </a:r>
            <a:r>
              <a:rPr lang="en-IN" sz="1500" dirty="0"/>
              <a:t> </a:t>
            </a:r>
            <a:r>
              <a:rPr lang="en-IN" sz="1500" b="1" dirty="0">
                <a:solidFill>
                  <a:srgbClr val="4ADE80"/>
                </a:solidFill>
              </a:rPr>
              <a:t>Gross Merchandise Value </a:t>
            </a:r>
            <a:r>
              <a:rPr lang="en-IN" sz="1500" dirty="0"/>
              <a:t>(Total </a:t>
            </a:r>
            <a:r>
              <a:rPr lang="en-IN" sz="1500" dirty="0" err="1"/>
              <a:t>catalog</a:t>
            </a:r>
            <a:r>
              <a:rPr lang="en-IN" sz="1500" dirty="0"/>
              <a:t> listed spend before deductions) </a:t>
            </a:r>
          </a:p>
          <a:p>
            <a:pPr marL="285750" indent="-285750" algn="ctr">
              <a:buFont typeface="Wingdings" panose="05000000000000000000" pitchFamily="2" charset="2"/>
              <a:buChar char="q"/>
            </a:pPr>
            <a:endParaRPr lang="en-IN" sz="1500" dirty="0"/>
          </a:p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IN" sz="1500" b="1" dirty="0">
                <a:solidFill>
                  <a:srgbClr val="FFFF00"/>
                </a:solidFill>
              </a:rPr>
              <a:t>COGS:</a:t>
            </a:r>
            <a:r>
              <a:rPr lang="en-IN" sz="1500" dirty="0">
                <a:solidFill>
                  <a:srgbClr val="FFFF00"/>
                </a:solidFill>
              </a:rPr>
              <a:t> </a:t>
            </a:r>
            <a:r>
              <a:rPr lang="en-IN" sz="1500" b="1" dirty="0">
                <a:solidFill>
                  <a:srgbClr val="4ADE80"/>
                </a:solidFill>
              </a:rPr>
              <a:t>Cost of Goods Sold </a:t>
            </a:r>
            <a:r>
              <a:rPr lang="en-IN" sz="1500" dirty="0"/>
              <a:t>(Wholesale product procurement cost) </a:t>
            </a:r>
          </a:p>
          <a:p>
            <a:pPr marL="285750" indent="-285750" algn="ctr">
              <a:buFont typeface="Wingdings" panose="05000000000000000000" pitchFamily="2" charset="2"/>
              <a:buChar char="q"/>
            </a:pPr>
            <a:endParaRPr lang="en-IN" sz="1500" dirty="0"/>
          </a:p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IN" sz="1500" b="1" dirty="0">
                <a:solidFill>
                  <a:srgbClr val="FFFF00"/>
                </a:solidFill>
              </a:rPr>
              <a:t>CM1:</a:t>
            </a:r>
            <a:r>
              <a:rPr lang="en-IN" sz="1500" dirty="0">
                <a:solidFill>
                  <a:srgbClr val="FFFF00"/>
                </a:solidFill>
              </a:rPr>
              <a:t> </a:t>
            </a:r>
            <a:r>
              <a:rPr lang="en-IN" sz="1500" b="1" dirty="0">
                <a:solidFill>
                  <a:srgbClr val="4ADE80"/>
                </a:solidFill>
              </a:rPr>
              <a:t>Contribution Margin 1 </a:t>
            </a:r>
            <a:r>
              <a:rPr lang="en-IN" sz="1500" dirty="0"/>
              <a:t>(Gross margin = Net Revenue − COGS) </a:t>
            </a:r>
          </a:p>
          <a:p>
            <a:pPr marL="285750" indent="-285750" algn="ctr">
              <a:buFont typeface="Wingdings" panose="05000000000000000000" pitchFamily="2" charset="2"/>
              <a:buChar char="q"/>
            </a:pPr>
            <a:endParaRPr lang="en-IN" sz="1500" dirty="0"/>
          </a:p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IN" sz="1500" b="1" dirty="0">
                <a:solidFill>
                  <a:srgbClr val="FFFF00"/>
                </a:solidFill>
              </a:rPr>
              <a:t>CM2:</a:t>
            </a:r>
            <a:r>
              <a:rPr lang="en-IN" sz="1500" dirty="0">
                <a:solidFill>
                  <a:srgbClr val="FFFF00"/>
                </a:solidFill>
              </a:rPr>
              <a:t> </a:t>
            </a:r>
            <a:r>
              <a:rPr lang="en-IN" sz="1500" b="1" dirty="0">
                <a:solidFill>
                  <a:srgbClr val="4ADE80"/>
                </a:solidFill>
              </a:rPr>
              <a:t>Contribution Margin 2 </a:t>
            </a:r>
            <a:r>
              <a:rPr lang="en-IN" sz="1500" dirty="0"/>
              <a:t>(Variable profit = CM1 − Fleet Deficit − PG MDR) </a:t>
            </a:r>
          </a:p>
          <a:p>
            <a:pPr marL="285750" indent="-285750" algn="ctr">
              <a:buFont typeface="Wingdings" panose="05000000000000000000" pitchFamily="2" charset="2"/>
              <a:buChar char="q"/>
            </a:pPr>
            <a:endParaRPr lang="en-IN" sz="1500" dirty="0"/>
          </a:p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IN" sz="1500" b="1" dirty="0">
                <a:solidFill>
                  <a:srgbClr val="FFFF00"/>
                </a:solidFill>
              </a:rPr>
              <a:t>PG MDR:</a:t>
            </a:r>
            <a:r>
              <a:rPr lang="en-IN" sz="1500" dirty="0">
                <a:solidFill>
                  <a:srgbClr val="FFFF00"/>
                </a:solidFill>
              </a:rPr>
              <a:t> </a:t>
            </a:r>
            <a:r>
              <a:rPr lang="en-IN" sz="1500" b="1" dirty="0">
                <a:solidFill>
                  <a:srgbClr val="4ADE80"/>
                </a:solidFill>
              </a:rPr>
              <a:t>Payment Gateway Merchant Discount Rate </a:t>
            </a:r>
            <a:r>
              <a:rPr lang="en-IN" sz="1500" dirty="0"/>
              <a:t>(Transaction processing fee) </a:t>
            </a:r>
          </a:p>
        </p:txBody>
      </p:sp>
    </p:spTree>
    <p:extLst>
      <p:ext uri="{BB962C8B-B14F-4D97-AF65-F5344CB8AC3E}">
        <p14:creationId xmlns:p14="http://schemas.microsoft.com/office/powerpoint/2010/main" val="4224229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6E0F9-2987-AE1D-EB00-3FF4B681F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5D381-4260-E235-BB43-1681F3AF5E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444" y="265473"/>
            <a:ext cx="11248104" cy="747251"/>
          </a:xfrm>
        </p:spPr>
        <p:txBody>
          <a:bodyPr>
            <a:normAutofit/>
          </a:bodyPr>
          <a:lstStyle/>
          <a:p>
            <a:r>
              <a:rPr lang="en-IN" sz="2200" dirty="0">
                <a:solidFill>
                  <a:srgbClr val="38BDF8"/>
                </a:solidFill>
              </a:rPr>
              <a:t>02. DATA PIPELINE &amp; WAREHOUSE DESIGN</a:t>
            </a:r>
            <a:br>
              <a:rPr lang="en-IN" sz="2200" dirty="0">
                <a:solidFill>
                  <a:srgbClr val="38BDF8"/>
                </a:solidFill>
              </a:rPr>
            </a:br>
            <a:r>
              <a:rPr lang="en-IN" sz="2200" dirty="0">
                <a:solidFill>
                  <a:srgbClr val="94A3B8"/>
                </a:solidFill>
              </a:rPr>
              <a:t>Normalizing raw retail events into a performant 3NF star schema in PostgreSQL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260CDA23-2754-B45A-34ED-2D58DF4AB0D5}"/>
                  </a:ext>
                </a:extLst>
              </p:cNvPr>
              <p:cNvSpPr/>
              <p:nvPr/>
            </p:nvSpPr>
            <p:spPr>
              <a:xfrm>
                <a:off x="324468" y="1237003"/>
                <a:ext cx="4552335" cy="5421298"/>
              </a:xfrm>
              <a:prstGeom prst="roundRect">
                <a:avLst/>
              </a:prstGeom>
              <a:solidFill>
                <a:srgbClr val="151E32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000" b="1" dirty="0">
                    <a:solidFill>
                      <a:srgbClr val="FACC15"/>
                    </a:solidFill>
                  </a:rPr>
                  <a:t>Data Ingestion &amp; Transformation Engine</a:t>
                </a:r>
              </a:p>
              <a:p>
                <a:pPr marL="342900" indent="-342900" algn="ctr">
                  <a:buFont typeface="+mj-lt"/>
                  <a:buAutoNum type="arabicPeriod"/>
                </a:pPr>
                <a:endParaRPr lang="en-IN" sz="1600" i="1" dirty="0"/>
              </a:p>
              <a:p>
                <a:pPr marL="342900" indent="-342900" algn="ctr">
                  <a:buFont typeface="+mj-lt"/>
                  <a:buAutoNum type="arabicPeriod"/>
                </a:pPr>
                <a:r>
                  <a:rPr lang="en-IN" sz="1500" b="1" i="1" dirty="0">
                    <a:solidFill>
                      <a:srgbClr val="94A3B8"/>
                    </a:solidFill>
                  </a:rPr>
                  <a:t>Automated Python Ingestion Pipeline:</a:t>
                </a:r>
                <a:r>
                  <a:rPr lang="en-IN" sz="1500" b="1" dirty="0">
                    <a:solidFill>
                      <a:srgbClr val="94A3B8"/>
                    </a:solidFill>
                  </a:rPr>
                  <a:t> </a:t>
                </a:r>
                <a:r>
                  <a:rPr lang="en-IN" sz="1500" dirty="0"/>
                  <a:t>Raw multi-sheet Excel files processed through pandas; types enforced, string fields stripped, and dates parsed into standard timestamps.</a:t>
                </a:r>
              </a:p>
              <a:p>
                <a:pPr marL="342900" indent="-342900" algn="ctr">
                  <a:buFont typeface="+mj-lt"/>
                  <a:buAutoNum type="arabicPeriod"/>
                </a:pPr>
                <a:endParaRPr lang="en-IN" sz="1500" dirty="0">
                  <a:solidFill>
                    <a:srgbClr val="FACC15"/>
                  </a:solidFill>
                </a:endParaRPr>
              </a:p>
              <a:p>
                <a:pPr marL="342900" indent="-342900" algn="ctr">
                  <a:buFont typeface="+mj-lt"/>
                  <a:buAutoNum type="arabicPeriod"/>
                </a:pPr>
                <a:r>
                  <a:rPr lang="en-IN" sz="1500" b="1" i="1" dirty="0">
                    <a:solidFill>
                      <a:srgbClr val="94A3B8"/>
                    </a:solidFill>
                  </a:rPr>
                  <a:t>Outlier Treatment (</a:t>
                </a:r>
                <a:r>
                  <a:rPr lang="en-IN" sz="1500" b="1" i="1" dirty="0" err="1">
                    <a:solidFill>
                      <a:srgbClr val="94A3B8"/>
                    </a:solidFill>
                  </a:rPr>
                  <a:t>Winsorization</a:t>
                </a:r>
                <a:r>
                  <a:rPr lang="en-IN" sz="1500" b="1" i="1" dirty="0">
                    <a:solidFill>
                      <a:srgbClr val="94A3B8"/>
                    </a:solidFill>
                  </a:rPr>
                  <a:t>):</a:t>
                </a:r>
                <a:r>
                  <a:rPr lang="en-IN" sz="1500" b="1" dirty="0">
                    <a:solidFill>
                      <a:srgbClr val="94A3B8"/>
                    </a:solidFill>
                  </a:rPr>
                  <a:t> I</a:t>
                </a:r>
                <a:r>
                  <a:rPr lang="en-IN" sz="1500" dirty="0"/>
                  <a:t>nterquartile Range (IQR) calculated for delivery delays. Delays above the statistical upper bound (</a:t>
                </a:r>
                <a14:m>
                  <m:oMath xmlns:m="http://schemas.openxmlformats.org/officeDocument/2006/math">
                    <m:r>
                      <a:rPr lang="en-IN" sz="15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1500">
                        <a:latin typeface="Cambria Math" panose="02040503050406030204" pitchFamily="18" charset="0"/>
                      </a:rPr>
                      <m:t>3+2.5×</m:t>
                    </m:r>
                    <m:r>
                      <a:rPr lang="en-IN" sz="1500" i="1">
                        <a:latin typeface="Cambria Math" panose="02040503050406030204" pitchFamily="18" charset="0"/>
                      </a:rPr>
                      <m:t>𝐼𝑄𝑅</m:t>
                    </m:r>
                  </m:oMath>
                </a14:m>
                <a:r>
                  <a:rPr lang="en-IN" sz="1500" dirty="0"/>
                  <a:t>) were treated into </a:t>
                </a:r>
                <a:r>
                  <a:rPr lang="en-IN" sz="1500" b="1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sla_delay_treated</a:t>
                </a:r>
                <a:r>
                  <a:rPr lang="en-IN" sz="15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IN" sz="1500" dirty="0"/>
                  <a:t>to prevent severe traffic anomalies from skewing warehouse averages.</a:t>
                </a:r>
              </a:p>
              <a:p>
                <a:pPr marL="342900" indent="-342900" algn="ctr">
                  <a:buFont typeface="+mj-lt"/>
                  <a:buAutoNum type="arabicPeriod"/>
                </a:pPr>
                <a:endParaRPr lang="en-IN" sz="1500" dirty="0">
                  <a:solidFill>
                    <a:srgbClr val="FACC15"/>
                  </a:solidFill>
                </a:endParaRPr>
              </a:p>
              <a:p>
                <a:pPr marL="342900" indent="-342900" algn="ctr">
                  <a:buFont typeface="+mj-lt"/>
                  <a:buAutoNum type="arabicPeriod"/>
                </a:pPr>
                <a:r>
                  <a:rPr lang="en-IN" sz="1500" b="1" i="1" dirty="0">
                    <a:solidFill>
                      <a:srgbClr val="94A3B8"/>
                    </a:solidFill>
                  </a:rPr>
                  <a:t>PostgreSQL Batch Ingestion:</a:t>
                </a:r>
                <a:r>
                  <a:rPr lang="en-IN" sz="1500" b="1" dirty="0">
                    <a:solidFill>
                      <a:srgbClr val="94A3B8"/>
                    </a:solidFill>
                  </a:rPr>
                  <a:t> </a:t>
                </a:r>
                <a:r>
                  <a:rPr lang="en-IN" sz="1500" dirty="0"/>
                  <a:t>Script </a:t>
                </a:r>
                <a:r>
                  <a:rPr lang="en-IN" sz="15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05_postgres_ingestion.py </a:t>
                </a:r>
                <a:r>
                  <a:rPr lang="en-IN" sz="1500" dirty="0"/>
                  <a:t>bulk-loads dimension records first to satisfy referential integrity constraints, then inserts </a:t>
                </a:r>
                <a:r>
                  <a:rPr lang="en-IN" sz="1500" b="1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fact_orders</a:t>
                </a:r>
                <a:r>
                  <a:rPr lang="en-IN" sz="15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IN" sz="1500" dirty="0"/>
                  <a:t>via </a:t>
                </a:r>
                <a:r>
                  <a:rPr lang="en-IN" sz="15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psycopg2.extras.execute_values </a:t>
                </a:r>
                <a:r>
                  <a:rPr lang="en-IN" sz="1500" dirty="0"/>
                  <a:t>with 1,000-row page chunks.</a:t>
                </a:r>
                <a:endParaRPr lang="en-IN" sz="1500" dirty="0">
                  <a:solidFill>
                    <a:srgbClr val="FACC15"/>
                  </a:solidFill>
                </a:endParaRPr>
              </a:p>
            </p:txBody>
          </p:sp>
        </mc:Choice>
        <mc:Fallback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260CDA23-2754-B45A-34ED-2D58DF4AB0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68" y="1237003"/>
                <a:ext cx="4552335" cy="5421298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E95191-608F-BD04-2754-B97CAC315A2D}"/>
              </a:ext>
            </a:extLst>
          </p:cNvPr>
          <p:cNvSpPr/>
          <p:nvPr/>
        </p:nvSpPr>
        <p:spPr>
          <a:xfrm>
            <a:off x="5073454" y="1217338"/>
            <a:ext cx="4552335" cy="5421298"/>
          </a:xfrm>
          <a:prstGeom prst="roundRect">
            <a:avLst/>
          </a:prstGeom>
          <a:solidFill>
            <a:srgbClr val="151E32"/>
          </a:solidFill>
          <a:ln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4ADE80"/>
                </a:solidFill>
              </a:rPr>
              <a:t>Star-Schema Warehouse Entities</a:t>
            </a:r>
          </a:p>
          <a:p>
            <a:pPr algn="ctr"/>
            <a:endParaRPr lang="en-IN" sz="1600" dirty="0">
              <a:solidFill>
                <a:srgbClr val="4ADE80"/>
              </a:solidFill>
            </a:endParaRPr>
          </a:p>
          <a:p>
            <a:pPr marL="342900" indent="-342900" algn="ctr">
              <a:buFont typeface="+mj-lt"/>
              <a:buAutoNum type="arabicPeriod"/>
            </a:pPr>
            <a:r>
              <a:rPr lang="en-IN" sz="1600" b="1" dirty="0" err="1">
                <a:solidFill>
                  <a:srgbClr val="94A3B8"/>
                </a:solidFill>
              </a:rPr>
              <a:t>fact_orders</a:t>
            </a:r>
            <a:r>
              <a:rPr lang="en-IN" sz="1600" b="1" dirty="0">
                <a:solidFill>
                  <a:srgbClr val="94A3B8"/>
                </a:solidFill>
              </a:rPr>
              <a:t> (7,000 Rows):</a:t>
            </a:r>
            <a:r>
              <a:rPr lang="en-IN" sz="1600" dirty="0"/>
              <a:t> Captures individual transaction records with numeric fields </a:t>
            </a:r>
            <a:r>
              <a:rPr lang="en-IN" sz="1600" b="1" dirty="0"/>
              <a:t>(</a:t>
            </a:r>
            <a:r>
              <a:rPr lang="en-IN" sz="16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gross_sales</a:t>
            </a:r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IN" sz="16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promo_discount</a:t>
            </a:r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IN" sz="16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delivery_fee_charged</a:t>
            </a:r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IN" sz="16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actual_delivery_cost</a:t>
            </a:r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IN" sz="16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payment_gateway_fee</a:t>
            </a:r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IN" sz="16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sla_delay_minutes</a:t>
            </a:r>
            <a:r>
              <a:rPr lang="en-IN" sz="1600" b="1" dirty="0"/>
              <a:t>).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IN" sz="1600" b="1" dirty="0" err="1">
                <a:solidFill>
                  <a:srgbClr val="94A3B8"/>
                </a:solidFill>
              </a:rPr>
              <a:t>dim_products</a:t>
            </a:r>
            <a:r>
              <a:rPr lang="en-IN" sz="1600" b="1" dirty="0">
                <a:solidFill>
                  <a:srgbClr val="94A3B8"/>
                </a:solidFill>
              </a:rPr>
              <a:t> (250 Rows):</a:t>
            </a:r>
            <a:r>
              <a:rPr lang="en-IN" sz="1600" dirty="0">
                <a:solidFill>
                  <a:srgbClr val="94A3B8"/>
                </a:solidFill>
              </a:rPr>
              <a:t> </a:t>
            </a:r>
            <a:r>
              <a:rPr lang="en-IN" sz="1600" dirty="0"/>
              <a:t>Maintains inventory taxonomy, retail listing price, and wholesale procurement unit cost.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IN" sz="1600" b="1" dirty="0" err="1">
                <a:solidFill>
                  <a:srgbClr val="94A3B8"/>
                </a:solidFill>
              </a:rPr>
              <a:t>dim_darkstores</a:t>
            </a:r>
            <a:r>
              <a:rPr lang="en-IN" sz="1600" b="1" dirty="0">
                <a:solidFill>
                  <a:srgbClr val="94A3B8"/>
                </a:solidFill>
              </a:rPr>
              <a:t> (15 Hubs):</a:t>
            </a:r>
            <a:r>
              <a:rPr lang="en-IN" sz="1600" dirty="0">
                <a:solidFill>
                  <a:srgbClr val="94A3B8"/>
                </a:solidFill>
              </a:rPr>
              <a:t> </a:t>
            </a:r>
            <a:r>
              <a:rPr lang="en-IN" sz="1600" dirty="0"/>
              <a:t>Stores geographical city mapping, target delivery SLAs (10 min vs 15 min), and daily base overheads.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IN" sz="1600" b="1" dirty="0" err="1">
                <a:solidFill>
                  <a:srgbClr val="94A3B8"/>
                </a:solidFill>
              </a:rPr>
              <a:t>dim_customers</a:t>
            </a:r>
            <a:r>
              <a:rPr lang="en-IN" sz="1600" b="1" dirty="0">
                <a:solidFill>
                  <a:srgbClr val="94A3B8"/>
                </a:solidFill>
              </a:rPr>
              <a:t> (1,200 Rows):</a:t>
            </a:r>
            <a:r>
              <a:rPr lang="en-IN" sz="1600" dirty="0">
                <a:solidFill>
                  <a:srgbClr val="94A3B8"/>
                </a:solidFill>
              </a:rPr>
              <a:t> </a:t>
            </a:r>
            <a:r>
              <a:rPr lang="en-IN" sz="1600" dirty="0"/>
              <a:t>Tracks acquisition segments and loyalty rewards tiers (Bronze, Silver, Gold, Platinum).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IN" sz="1600" b="1" dirty="0" err="1">
                <a:solidFill>
                  <a:srgbClr val="94A3B8"/>
                </a:solidFill>
              </a:rPr>
              <a:t>dim_date</a:t>
            </a:r>
            <a:r>
              <a:rPr lang="en-IN" sz="1600" b="1" dirty="0">
                <a:solidFill>
                  <a:srgbClr val="94A3B8"/>
                </a:solidFill>
              </a:rPr>
              <a:t>:</a:t>
            </a:r>
            <a:r>
              <a:rPr lang="en-IN" sz="1600" dirty="0">
                <a:solidFill>
                  <a:srgbClr val="94A3B8"/>
                </a:solidFill>
              </a:rPr>
              <a:t> </a:t>
            </a:r>
            <a:r>
              <a:rPr lang="en-IN" sz="1600" dirty="0"/>
              <a:t>Calendar dimension providing fiscal quarter and week number lookups.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37A010FC-01F2-F5A6-697E-D3DA55177D5B}"/>
                  </a:ext>
                </a:extLst>
              </p:cNvPr>
              <p:cNvSpPr/>
              <p:nvPr/>
            </p:nvSpPr>
            <p:spPr>
              <a:xfrm>
                <a:off x="9920747" y="1217338"/>
                <a:ext cx="2063895" cy="5362305"/>
              </a:xfrm>
              <a:prstGeom prst="roundRect">
                <a:avLst/>
              </a:prstGeom>
              <a:solidFill>
                <a:srgbClr val="151E32"/>
              </a:solidFill>
              <a:ln>
                <a:solidFill>
                  <a:srgbClr val="4ADE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b="1" u="sng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Abbreviations</a:t>
                </a:r>
                <a:r>
                  <a:rPr lang="en-IN" sz="1400" b="1" u="sng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:</a:t>
                </a:r>
                <a:endParaRPr lang="en-IN" sz="1500" b="1" dirty="0"/>
              </a:p>
              <a:p>
                <a:pPr algn="ctr"/>
                <a:endParaRPr lang="en-IN" sz="1500" b="1" dirty="0"/>
              </a:p>
              <a:p>
                <a:pPr marL="285750" indent="-285750" algn="ctr">
                  <a:buFont typeface="Wingdings" panose="05000000000000000000" pitchFamily="2" charset="2"/>
                  <a:buChar char="q"/>
                </a:pPr>
                <a:r>
                  <a:rPr lang="en-IN" sz="1500" b="1" dirty="0">
                    <a:solidFill>
                      <a:srgbClr val="FFFF00"/>
                    </a:solidFill>
                  </a:rPr>
                  <a:t>3NF:</a:t>
                </a:r>
                <a:r>
                  <a:rPr lang="en-IN" sz="1500" dirty="0">
                    <a:solidFill>
                      <a:srgbClr val="FFFF00"/>
                    </a:solidFill>
                  </a:rPr>
                  <a:t> </a:t>
                </a:r>
                <a:r>
                  <a:rPr lang="en-IN" sz="1500" b="1" dirty="0">
                    <a:solidFill>
                      <a:srgbClr val="4ADE80"/>
                    </a:solidFill>
                  </a:rPr>
                  <a:t>Third Normal Form </a:t>
                </a:r>
                <a:r>
                  <a:rPr lang="en-IN" sz="1500" dirty="0"/>
                  <a:t>(Relational schema structure that minimizes data redundancy) </a:t>
                </a:r>
              </a:p>
              <a:p>
                <a:pPr marL="285750" indent="-285750" algn="ctr">
                  <a:buFont typeface="Wingdings" panose="05000000000000000000" pitchFamily="2" charset="2"/>
                  <a:buChar char="q"/>
                </a:pPr>
                <a:endParaRPr lang="en-IN" sz="1500" dirty="0"/>
              </a:p>
              <a:p>
                <a:pPr marL="285750" indent="-285750" algn="ctr">
                  <a:buFont typeface="Wingdings" panose="05000000000000000000" pitchFamily="2" charset="2"/>
                  <a:buChar char="q"/>
                </a:pPr>
                <a:r>
                  <a:rPr lang="en-IN" sz="1500" b="1" dirty="0">
                    <a:solidFill>
                      <a:srgbClr val="FFFF00"/>
                    </a:solidFill>
                  </a:rPr>
                  <a:t>IQR:</a:t>
                </a:r>
                <a:r>
                  <a:rPr lang="en-IN" sz="1500" dirty="0">
                    <a:solidFill>
                      <a:srgbClr val="FFFF00"/>
                    </a:solidFill>
                  </a:rPr>
                  <a:t> </a:t>
                </a:r>
                <a:r>
                  <a:rPr lang="en-IN" sz="1500" b="1" dirty="0">
                    <a:solidFill>
                      <a:srgbClr val="4ADE80"/>
                    </a:solidFill>
                  </a:rPr>
                  <a:t>Interquartile Range </a:t>
                </a:r>
                <a:r>
                  <a:rPr lang="en-IN" sz="1500" dirty="0"/>
                  <a:t>(</a:t>
                </a:r>
                <a14:m>
                  <m:oMath xmlns:m="http://schemas.openxmlformats.org/officeDocument/2006/math">
                    <m:r>
                      <a:rPr lang="en-IN" sz="1500" i="1"/>
                      <m:t>𝑄</m:t>
                    </m:r>
                    <m:r>
                      <a:rPr lang="en-IN" sz="1500"/>
                      <m:t>3−</m:t>
                    </m:r>
                    <m:r>
                      <a:rPr lang="en-IN" sz="1500" i="1"/>
                      <m:t>𝑄</m:t>
                    </m:r>
                    <m:r>
                      <a:rPr lang="en-IN" sz="1500"/>
                      <m:t>1</m:t>
                    </m:r>
                  </m:oMath>
                </a14:m>
                <a:r>
                  <a:rPr lang="en-IN" sz="1500" dirty="0"/>
                  <a:t>; statistical spread used to </a:t>
                </a:r>
                <a:r>
                  <a:rPr lang="en-IN" sz="1500" dirty="0" err="1"/>
                  <a:t>winsorize</a:t>
                </a:r>
                <a:r>
                  <a:rPr lang="en-IN" sz="1500" dirty="0"/>
                  <a:t> delivery delay outliers) </a:t>
                </a:r>
              </a:p>
              <a:p>
                <a:pPr marL="285750" indent="-285750" algn="ctr">
                  <a:buFont typeface="Wingdings" panose="05000000000000000000" pitchFamily="2" charset="2"/>
                  <a:buChar char="q"/>
                </a:pPr>
                <a:endParaRPr lang="en-IN" sz="1500" dirty="0"/>
              </a:p>
              <a:p>
                <a:pPr marL="285750" indent="-285750" algn="ctr">
                  <a:buFont typeface="Wingdings" panose="05000000000000000000" pitchFamily="2" charset="2"/>
                  <a:buChar char="q"/>
                </a:pPr>
                <a:r>
                  <a:rPr lang="en-IN" sz="1500" b="1" dirty="0">
                    <a:solidFill>
                      <a:srgbClr val="FFFF00"/>
                    </a:solidFill>
                  </a:rPr>
                  <a:t>DDL:</a:t>
                </a:r>
                <a:r>
                  <a:rPr lang="en-IN" sz="1500" dirty="0">
                    <a:solidFill>
                      <a:srgbClr val="FFFF00"/>
                    </a:solidFill>
                  </a:rPr>
                  <a:t> </a:t>
                </a:r>
                <a:r>
                  <a:rPr lang="en-IN" sz="1500" b="1" dirty="0">
                    <a:solidFill>
                      <a:srgbClr val="4ADE80"/>
                    </a:solidFill>
                  </a:rPr>
                  <a:t>Data Definition Language </a:t>
                </a:r>
                <a:r>
                  <a:rPr lang="en-IN" sz="1500" dirty="0"/>
                  <a:t>(SQL commands defining tables and constraints) </a:t>
                </a:r>
              </a:p>
            </p:txBody>
          </p:sp>
        </mc:Choice>
        <mc:Fallback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37A010FC-01F2-F5A6-697E-D3DA55177D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0747" y="1217338"/>
                <a:ext cx="2063895" cy="536230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4ADE8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9441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5AB6D-96DC-8611-82A7-CB570E5B2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900" y="315965"/>
            <a:ext cx="11186653" cy="795081"/>
          </a:xfrm>
        </p:spPr>
        <p:txBody>
          <a:bodyPr>
            <a:normAutofit/>
          </a:bodyPr>
          <a:lstStyle/>
          <a:p>
            <a:r>
              <a:rPr lang="en-IN" sz="2200" dirty="0">
                <a:solidFill>
                  <a:srgbClr val="38BDF8"/>
                </a:solidFill>
              </a:rPr>
              <a:t>03. INFERENTIAL STATISTICS | HYPOTHESIS TESTING</a:t>
            </a:r>
            <a:br>
              <a:rPr lang="en-IN" sz="2200" dirty="0">
                <a:solidFill>
                  <a:srgbClr val="38BDF8"/>
                </a:solidFill>
              </a:rPr>
            </a:br>
            <a:r>
              <a:rPr lang="en-IN" sz="2200" dirty="0">
                <a:solidFill>
                  <a:srgbClr val="94A3B8"/>
                </a:solidFill>
              </a:rPr>
              <a:t>Validating operational assumptions through formal statistical testing in Python (SciPy)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ED9EA76-5CAF-9BED-2F90-853EC69CD110}"/>
              </a:ext>
            </a:extLst>
          </p:cNvPr>
          <p:cNvSpPr/>
          <p:nvPr/>
        </p:nvSpPr>
        <p:spPr>
          <a:xfrm>
            <a:off x="353962" y="1209372"/>
            <a:ext cx="11641394" cy="1514168"/>
          </a:xfrm>
          <a:prstGeom prst="roundRect">
            <a:avLst/>
          </a:prstGeom>
          <a:solidFill>
            <a:srgbClr val="151E32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ACC15"/>
                </a:solidFill>
              </a:rPr>
              <a:t>Hypothesis 1: Spend Disparity Across Rewards Tiers </a:t>
            </a:r>
          </a:p>
          <a:p>
            <a:pPr algn="ctr"/>
            <a:r>
              <a:rPr lang="en-IN" sz="2200" dirty="0">
                <a:solidFill>
                  <a:srgbClr val="FACC15"/>
                </a:solidFill>
              </a:rPr>
              <a:t>	</a:t>
            </a:r>
          </a:p>
          <a:p>
            <a:pPr algn="ctr"/>
            <a:r>
              <a:rPr lang="en-IN" b="1" dirty="0">
                <a:solidFill>
                  <a:srgbClr val="94A3B8"/>
                </a:solidFill>
              </a:rPr>
              <a:t>Core Narrative: </a:t>
            </a:r>
            <a:r>
              <a:rPr lang="en-IN" dirty="0"/>
              <a:t>Tested whether premium loyalty customers (Gold/Platinum) produce statistically higher basket sales than entry-tier users (Bronze/Silver). Applied Welch’s t-test </a:t>
            </a:r>
            <a:r>
              <a:rPr lang="en-IN" b="1" dirty="0"/>
              <a:t>(</a:t>
            </a:r>
            <a:r>
              <a:rPr lang="en-IN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equal_var</a:t>
            </a:r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=False</a:t>
            </a:r>
            <a:r>
              <a:rPr lang="en-IN" b="1" dirty="0"/>
              <a:t>) </a:t>
            </a:r>
            <a:r>
              <a:rPr lang="en-IN" dirty="0"/>
              <a:t>to account for variance differences across cohort sizes, confirming spend distributions across user segments.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6528CA5D-D2AA-360B-54CA-3ED5EE6A0966}"/>
                  </a:ext>
                </a:extLst>
              </p:cNvPr>
              <p:cNvSpPr/>
              <p:nvPr/>
            </p:nvSpPr>
            <p:spPr>
              <a:xfrm>
                <a:off x="281451" y="2900523"/>
                <a:ext cx="11713905" cy="2261416"/>
              </a:xfrm>
              <a:prstGeom prst="roundRect">
                <a:avLst/>
              </a:prstGeom>
              <a:solidFill>
                <a:srgbClr val="151E32"/>
              </a:solidFill>
              <a:ln>
                <a:solidFill>
                  <a:srgbClr val="38BDF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200" b="1" dirty="0">
                  <a:solidFill>
                    <a:srgbClr val="4ADE80"/>
                  </a:solidFill>
                </a:endParaRPr>
              </a:p>
              <a:p>
                <a:pPr algn="ctr"/>
                <a:r>
                  <a:rPr lang="en-IN" sz="2000" b="1" dirty="0">
                    <a:solidFill>
                      <a:srgbClr val="4ADE80"/>
                    </a:solidFill>
                  </a:rPr>
                  <a:t>Hypothesis 2: Delivery Delays Directly Drive Customer Returns</a:t>
                </a:r>
              </a:p>
              <a:p>
                <a:pPr algn="ctr"/>
                <a:endParaRPr lang="en-IN" sz="1700" b="1" dirty="0">
                  <a:solidFill>
                    <a:srgbClr val="4ADE80"/>
                  </a:solidFill>
                </a:endParaRPr>
              </a:p>
              <a:p>
                <a:pPr algn="ctr"/>
                <a:r>
                  <a:rPr lang="en-IN" sz="1700" b="1" dirty="0">
                    <a:solidFill>
                      <a:srgbClr val="94A3B8"/>
                    </a:solidFill>
                  </a:rPr>
                  <a:t>Core Narrative:</a:t>
                </a:r>
                <a:r>
                  <a:rPr lang="en-IN" sz="1700" b="1" dirty="0">
                    <a:solidFill>
                      <a:srgbClr val="4ADE80"/>
                    </a:solidFill>
                  </a:rPr>
                  <a:t> </a:t>
                </a:r>
              </a:p>
              <a:p>
                <a:pPr marL="457200" indent="-457200" algn="ctr">
                  <a:buFont typeface="+mj-lt"/>
                  <a:buAutoNum type="arabicPeriod"/>
                </a:pPr>
                <a:r>
                  <a:rPr lang="en-IN" sz="1700" b="1" dirty="0">
                    <a:solidFill>
                      <a:srgbClr val="94A3B8"/>
                    </a:solidFill>
                  </a:rPr>
                  <a:t>Cross-tabulated </a:t>
                </a:r>
                <a:r>
                  <a:rPr lang="en-IN" sz="1700" b="1" dirty="0" err="1">
                    <a:solidFill>
                      <a:srgbClr val="94A3B8"/>
                    </a:solidFill>
                  </a:rPr>
                  <a:t>fulfillment</a:t>
                </a:r>
                <a:r>
                  <a:rPr lang="en-IN" sz="1700" b="1" dirty="0">
                    <a:solidFill>
                      <a:srgbClr val="94A3B8"/>
                    </a:solidFill>
                  </a:rPr>
                  <a:t> delay</a:t>
                </a:r>
                <a:r>
                  <a:rPr lang="en-IN" sz="1700" dirty="0"/>
                  <a:t> </a:t>
                </a:r>
                <a:r>
                  <a:rPr lang="en-IN" sz="1700" b="1" dirty="0"/>
                  <a:t>(</a:t>
                </a:r>
                <a:r>
                  <a:rPr lang="en-IN" sz="1700" b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On-Time </a:t>
                </a:r>
                <a:r>
                  <a:rPr lang="en-IN" sz="1700" b="1" dirty="0"/>
                  <a:t>/ </a:t>
                </a:r>
                <a:r>
                  <a:rPr lang="en-IN" sz="1700" b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Mild </a:t>
                </a:r>
                <a:r>
                  <a:rPr lang="en-IN" sz="1700" b="1" dirty="0"/>
                  <a:t>vs. </a:t>
                </a:r>
                <a:r>
                  <a:rPr lang="en-IN" sz="1700" b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Severe Delay &gt;15m</a:t>
                </a:r>
                <a:r>
                  <a:rPr lang="en-IN" sz="1700" b="1" dirty="0"/>
                  <a:t>) </a:t>
                </a:r>
                <a:r>
                  <a:rPr lang="en-IN" sz="1700" dirty="0"/>
                  <a:t>against order status </a:t>
                </a:r>
                <a:r>
                  <a:rPr lang="en-IN" sz="1700" b="1" dirty="0"/>
                  <a:t>(</a:t>
                </a:r>
                <a:r>
                  <a:rPr lang="en-IN" sz="1700" b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DELIVERED </a:t>
                </a:r>
                <a:r>
                  <a:rPr lang="en-IN" sz="1700" b="1" dirty="0"/>
                  <a:t>vs. </a:t>
                </a:r>
                <a:r>
                  <a:rPr lang="en-IN" sz="1700" b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RETURNED</a:t>
                </a:r>
                <a:r>
                  <a:rPr lang="en-IN" sz="1700" b="1" dirty="0"/>
                  <a:t>)</a:t>
                </a:r>
                <a:r>
                  <a:rPr lang="en-IN" sz="1700" dirty="0"/>
                  <a:t>.</a:t>
                </a:r>
              </a:p>
              <a:p>
                <a:pPr marL="457200" indent="-457200" algn="ctr">
                  <a:buFont typeface="+mj-lt"/>
                  <a:buAutoNum type="arabicPeriod"/>
                </a:pPr>
                <a:r>
                  <a:rPr lang="en-IN" sz="1700" b="1" dirty="0">
                    <a:solidFill>
                      <a:srgbClr val="94A3B8"/>
                    </a:solidFill>
                  </a:rPr>
                  <a:t>Test Metric:</a:t>
                </a:r>
                <a:r>
                  <a:rPr lang="en-IN" sz="1700" dirty="0">
                    <a:solidFill>
                      <a:srgbClr val="94A3B8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7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170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IN" sz="17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1700">
                        <a:latin typeface="Cambria Math" panose="02040503050406030204" pitchFamily="18" charset="0"/>
                      </a:rPr>
                      <m:t>=142.87</m:t>
                    </m:r>
                  </m:oMath>
                </a14:m>
                <a:r>
                  <a:rPr lang="en-IN" sz="1700" dirty="0"/>
                  <a:t> with </a:t>
                </a:r>
                <a14:m>
                  <m:oMath xmlns:m="http://schemas.openxmlformats.org/officeDocument/2006/math">
                    <m:r>
                      <a:rPr lang="en-IN" sz="17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1700">
                        <a:latin typeface="Cambria Math" panose="02040503050406030204" pitchFamily="18" charset="0"/>
                      </a:rPr>
                      <m:t>&lt;0.0001</m:t>
                    </m:r>
                  </m:oMath>
                </a14:m>
                <a:r>
                  <a:rPr lang="en-IN" sz="1700" dirty="0"/>
                  <a:t>.</a:t>
                </a:r>
              </a:p>
              <a:p>
                <a:pPr marL="457200" indent="-457200" algn="ctr">
                  <a:buFont typeface="+mj-lt"/>
                  <a:buAutoNum type="arabicPeriod"/>
                </a:pPr>
                <a:r>
                  <a:rPr lang="en-IN" sz="1700" b="1" dirty="0">
                    <a:solidFill>
                      <a:srgbClr val="94A3B8"/>
                    </a:solidFill>
                  </a:rPr>
                  <a:t>Operational Implication:</a:t>
                </a:r>
                <a:r>
                  <a:rPr lang="en-IN" sz="1700" dirty="0">
                    <a:solidFill>
                      <a:srgbClr val="94A3B8"/>
                    </a:solidFill>
                  </a:rPr>
                  <a:t> </a:t>
                </a:r>
                <a:r>
                  <a:rPr lang="en-IN" sz="1700" dirty="0"/>
                  <a:t>The null hypothesis was decisively rejected. Orders delayed by more than 15 minutes experience a </a:t>
                </a:r>
                <a:r>
                  <a:rPr lang="en-IN" sz="1700" b="1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more than fourfold increase in doorstep returns (from 4.1% to 18.4%)</a:t>
                </a:r>
                <a:r>
                  <a:rPr lang="en-IN" sz="1700" dirty="0"/>
                  <a:t>, proving that </a:t>
                </a:r>
                <a:r>
                  <a:rPr lang="en-IN" sz="1700" dirty="0" err="1"/>
                  <a:t>fulfillment</a:t>
                </a:r>
                <a:r>
                  <a:rPr lang="en-IN" sz="1700" dirty="0"/>
                  <a:t> delays directly drive return leakage and perishable write-offs.</a:t>
                </a:r>
              </a:p>
              <a:p>
                <a:pPr marL="457200" indent="-457200" algn="ctr">
                  <a:buFont typeface="+mj-lt"/>
                  <a:buAutoNum type="arabicPeriod"/>
                </a:pPr>
                <a:endParaRPr lang="en-IN" sz="2000" b="1" dirty="0">
                  <a:solidFill>
                    <a:srgbClr val="94A3B8"/>
                  </a:solidFill>
                </a:endParaRPr>
              </a:p>
            </p:txBody>
          </p:sp>
        </mc:Choice>
        <mc:Fallback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6528CA5D-D2AA-360B-54CA-3ED5EE6A09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451" y="2900523"/>
                <a:ext cx="11713905" cy="2261416"/>
              </a:xfrm>
              <a:prstGeom prst="roundRect">
                <a:avLst/>
              </a:prstGeom>
              <a:blipFill>
                <a:blip r:embed="rId2"/>
                <a:stretch>
                  <a:fillRect b="-2949"/>
                </a:stretch>
              </a:blipFill>
              <a:ln>
                <a:solidFill>
                  <a:srgbClr val="38BDF8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14C52BF8-A11A-7EE6-3CC5-C575F7B0D6E8}"/>
                  </a:ext>
                </a:extLst>
              </p:cNvPr>
              <p:cNvSpPr/>
              <p:nvPr/>
            </p:nvSpPr>
            <p:spPr>
              <a:xfrm>
                <a:off x="330611" y="5304508"/>
                <a:ext cx="11615581" cy="1371598"/>
              </a:xfrm>
              <a:prstGeom prst="roundRect">
                <a:avLst/>
              </a:prstGeom>
              <a:solidFill>
                <a:srgbClr val="151E32"/>
              </a:solidFill>
              <a:ln>
                <a:solidFill>
                  <a:srgbClr val="4ADE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u="sng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Abbreviations</a:t>
                </a:r>
                <a:r>
                  <a:rPr lang="en-IN" sz="1600" b="1" u="sng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:</a:t>
                </a:r>
                <a:endParaRPr lang="en-IN" sz="1600" b="1" dirty="0"/>
              </a:p>
              <a:p>
                <a:pPr marL="285750" indent="-285750" algn="ctr">
                  <a:buFont typeface="Wingdings" panose="05000000000000000000" pitchFamily="2" charset="2"/>
                  <a:buChar char="q"/>
                </a:pPr>
                <a:endParaRPr lang="en-IN" sz="1600" b="1" dirty="0"/>
              </a:p>
              <a:p>
                <a:pPr marL="285750" indent="-285750" algn="ctr">
                  <a:buFont typeface="Wingdings" panose="05000000000000000000" pitchFamily="2" charset="2"/>
                  <a:buChar char="q"/>
                </a:pPr>
                <a:r>
                  <a:rPr lang="en-IN" sz="1600" b="1" dirty="0">
                    <a:solidFill>
                      <a:srgbClr val="FFFF00"/>
                    </a:solidFill>
                  </a:rPr>
                  <a:t>SciPy: </a:t>
                </a:r>
                <a:r>
                  <a:rPr lang="en-IN" sz="1600" dirty="0"/>
                  <a:t>Scientific Python Library (Statistical </a:t>
                </a:r>
                <a:r>
                  <a:rPr lang="en-IN" sz="1600" dirty="0" err="1"/>
                  <a:t>modeling</a:t>
                </a:r>
                <a:r>
                  <a:rPr lang="en-IN" sz="1600" dirty="0"/>
                  <a:t> module) </a:t>
                </a:r>
              </a:p>
              <a:p>
                <a:pPr marL="285750" indent="-285750" algn="ctr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sz="1600" b="1" i="1">
                            <a:solidFill>
                              <a:srgbClr val="FFFF00"/>
                            </a:solidFill>
                          </a:rPr>
                        </m:ctrlPr>
                      </m:sSupPr>
                      <m:e>
                        <m:r>
                          <a:rPr lang="en-IN" sz="1600" b="1" i="1">
                            <a:solidFill>
                              <a:srgbClr val="FFFF00"/>
                            </a:solidFill>
                          </a:rPr>
                          <m:t>𝝌</m:t>
                        </m:r>
                      </m:e>
                      <m:sup>
                        <m:r>
                          <a:rPr lang="en-IN" sz="1600" b="1" i="1">
                            <a:solidFill>
                              <a:srgbClr val="FFFF00"/>
                            </a:solidFill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IN" sz="1600" b="1" dirty="0">
                    <a:solidFill>
                      <a:srgbClr val="FFFF00"/>
                    </a:solidFill>
                  </a:rPr>
                  <a:t>(Chi-Square): </a:t>
                </a:r>
                <a:r>
                  <a:rPr lang="en-IN" sz="1600" dirty="0"/>
                  <a:t>Test of independence between categorical operational variables </a:t>
                </a:r>
              </a:p>
              <a:p>
                <a:pPr marL="285750" indent="-285750" algn="ctr">
                  <a:buFont typeface="Wingdings" panose="05000000000000000000" pitchFamily="2" charset="2"/>
                  <a:buChar char="q"/>
                </a:pPr>
                <a:r>
                  <a:rPr lang="en-IN" sz="1600" b="1" dirty="0">
                    <a:solidFill>
                      <a:srgbClr val="FFFF00"/>
                    </a:solidFill>
                  </a:rPr>
                  <a:t>Welch’s t-test: </a:t>
                </a:r>
                <a:r>
                  <a:rPr lang="en-IN" sz="1600" dirty="0"/>
                  <a:t>Two-sample hypothesis test assuming unequal cohort variances </a:t>
                </a:r>
              </a:p>
            </p:txBody>
          </p:sp>
        </mc:Choice>
        <mc:Fallback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14C52BF8-A11A-7EE6-3CC5-C575F7B0D6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611" y="5304508"/>
                <a:ext cx="11615581" cy="1371598"/>
              </a:xfrm>
              <a:prstGeom prst="roundRect">
                <a:avLst/>
              </a:prstGeom>
              <a:blipFill>
                <a:blip r:embed="rId3"/>
                <a:stretch>
                  <a:fillRect t="-881" b="-4405"/>
                </a:stretch>
              </a:blipFill>
              <a:ln>
                <a:solidFill>
                  <a:srgbClr val="4ADE8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8672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3AFDB-66CB-9638-4174-625911C91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225" y="197979"/>
            <a:ext cx="10999840" cy="726256"/>
          </a:xfrm>
        </p:spPr>
        <p:txBody>
          <a:bodyPr>
            <a:normAutofit/>
          </a:bodyPr>
          <a:lstStyle/>
          <a:p>
            <a:r>
              <a:rPr lang="en-IN" sz="2200" dirty="0">
                <a:solidFill>
                  <a:srgbClr val="38BDF8"/>
                </a:solidFill>
              </a:rPr>
              <a:t>04. EXECUTIVE REPORTING | MACRO UNIT ECONOMICS</a:t>
            </a:r>
            <a:br>
              <a:rPr lang="en-IN" sz="2200" dirty="0">
                <a:solidFill>
                  <a:srgbClr val="38BDF8"/>
                </a:solidFill>
              </a:rPr>
            </a:br>
            <a:r>
              <a:rPr lang="en-IN" sz="2200" dirty="0">
                <a:solidFill>
                  <a:srgbClr val="94A3B8"/>
                </a:solidFill>
              </a:rPr>
              <a:t>High-level monitoring of gross transaction volume against true contribution margin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4F4331EA-4009-E9E5-B2A7-CDC3B9B4EA41}"/>
                  </a:ext>
                </a:extLst>
              </p:cNvPr>
              <p:cNvSpPr/>
              <p:nvPr/>
            </p:nvSpPr>
            <p:spPr>
              <a:xfrm>
                <a:off x="7187381" y="945762"/>
                <a:ext cx="4730299" cy="5799167"/>
              </a:xfrm>
              <a:prstGeom prst="roundRect">
                <a:avLst/>
              </a:prstGeom>
              <a:solidFill>
                <a:srgbClr val="151E32"/>
              </a:solidFill>
              <a:ln>
                <a:solidFill>
                  <a:srgbClr val="38BDF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 algn="ctr">
                  <a:buFont typeface="+mj-lt"/>
                  <a:buAutoNum type="arabicPeriod"/>
                </a:pPr>
                <a:r>
                  <a:rPr lang="en-IN" sz="1700" b="1" dirty="0">
                    <a:solidFill>
                      <a:srgbClr val="94A3B8"/>
                    </a:solidFill>
                  </a:rPr>
                  <a:t>Financial Hierarchy:</a:t>
                </a:r>
                <a:r>
                  <a:rPr lang="en-IN" sz="1700" dirty="0">
                    <a:solidFill>
                      <a:srgbClr val="94A3B8"/>
                    </a:solidFill>
                  </a:rPr>
                  <a:t> </a:t>
                </a:r>
                <a:r>
                  <a:rPr lang="en-IN" sz="1700" dirty="0"/>
                  <a:t>The top KPI cards establish the conversion flow: ₹3.99M GMV </a:t>
                </a:r>
                <a14:m>
                  <m:oMath xmlns:m="http://schemas.openxmlformats.org/officeDocument/2006/math">
                    <m:r>
                      <a:rPr lang="en-IN" sz="17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1700" dirty="0"/>
                  <a:t>₹3.51M Net Revenue </a:t>
                </a:r>
                <a14:m>
                  <m:oMath xmlns:m="http://schemas.openxmlformats.org/officeDocument/2006/math">
                    <m:r>
                      <a:rPr lang="en-IN" sz="17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1700" dirty="0"/>
                  <a:t>₹424.38K CM2 across 6K delivered orders.</a:t>
                </a:r>
              </a:p>
              <a:p>
                <a:pPr marL="342900" indent="-342900" algn="ctr">
                  <a:buFont typeface="+mj-lt"/>
                  <a:buAutoNum type="arabicPeriod"/>
                </a:pPr>
                <a:endParaRPr lang="en-IN" sz="1700" dirty="0"/>
              </a:p>
              <a:p>
                <a:pPr marL="342900" indent="-342900" algn="ctr">
                  <a:buFont typeface="+mj-lt"/>
                  <a:buAutoNum type="arabicPeriod"/>
                </a:pPr>
                <a:r>
                  <a:rPr lang="en-IN" sz="1700" b="1" dirty="0">
                    <a:solidFill>
                      <a:srgbClr val="94A3B8"/>
                    </a:solidFill>
                  </a:rPr>
                  <a:t>Dual-Axis Trend Analysis:</a:t>
                </a:r>
                <a:r>
                  <a:rPr lang="en-IN" sz="1700" dirty="0">
                    <a:solidFill>
                      <a:srgbClr val="94A3B8"/>
                    </a:solidFill>
                  </a:rPr>
                  <a:t> </a:t>
                </a:r>
                <a:r>
                  <a:rPr lang="en-IN" sz="1700" dirty="0"/>
                  <a:t>The combo chart overlays monthly net sales against CM2 margin percentage, showing profit recovery through mid-year before promotional and winter surge pressures caused margin to dip to 11.0% in December.</a:t>
                </a:r>
              </a:p>
              <a:p>
                <a:pPr marL="342900" indent="-342900" algn="ctr">
                  <a:buFont typeface="+mj-lt"/>
                  <a:buAutoNum type="arabicPeriod"/>
                </a:pPr>
                <a:r>
                  <a:rPr lang="en-IN" sz="1700" b="1" dirty="0">
                    <a:solidFill>
                      <a:srgbClr val="94A3B8"/>
                    </a:solidFill>
                  </a:rPr>
                  <a:t>Category Breakdown: </a:t>
                </a:r>
                <a:r>
                  <a:rPr lang="en-IN" sz="1700" dirty="0"/>
                  <a:t>The product performance matrix highlights Personal Care (₹11.41L GMV) and Staples (₹9.94L GMV) as the top volume drivers.</a:t>
                </a:r>
              </a:p>
              <a:p>
                <a:pPr marL="342900" indent="-342900" algn="ctr">
                  <a:buFont typeface="+mj-lt"/>
                  <a:buAutoNum type="arabicPeriod"/>
                </a:pPr>
                <a:r>
                  <a:rPr lang="en-IN" sz="1700" b="1" dirty="0">
                    <a:solidFill>
                      <a:srgbClr val="94A3B8"/>
                    </a:solidFill>
                  </a:rPr>
                  <a:t>Payment Channel Cost:</a:t>
                </a:r>
                <a:r>
                  <a:rPr lang="en-IN" sz="1700" dirty="0"/>
                  <a:t> The fee analysis flags UPI (₹38K total fee impact from volume) and credit cards (₹13K from higher take-rates) as primary transaction processing costs.</a:t>
                </a:r>
              </a:p>
            </p:txBody>
          </p:sp>
        </mc:Choice>
        <mc:Fallback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4F4331EA-4009-E9E5-B2A7-CDC3B9B4EA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7381" y="945762"/>
                <a:ext cx="4730299" cy="579916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38BDF8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F66D6470-EBF2-4924-AF37-4E00A0ED502C}"/>
                  </a:ext>
                </a:extLst>
              </p:cNvPr>
              <p:cNvSpPr/>
              <p:nvPr/>
            </p:nvSpPr>
            <p:spPr>
              <a:xfrm>
                <a:off x="543233" y="5093110"/>
                <a:ext cx="6490947" cy="1617408"/>
              </a:xfrm>
              <a:prstGeom prst="roundRect">
                <a:avLst/>
              </a:prstGeom>
              <a:solidFill>
                <a:srgbClr val="151E32"/>
              </a:solidFill>
              <a:ln>
                <a:solidFill>
                  <a:srgbClr val="4ADE8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b="1" u="sng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Abbreviations</a:t>
                </a:r>
                <a:r>
                  <a:rPr lang="en-IN" sz="1400" b="1" u="sng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:</a:t>
                </a:r>
                <a:endParaRPr lang="en-IN" sz="1400" b="1" dirty="0"/>
              </a:p>
              <a:p>
                <a:pPr algn="ctr"/>
                <a:endParaRPr lang="en-IN" sz="1700" dirty="0"/>
              </a:p>
              <a:p>
                <a:pPr marL="285750" indent="-285750" algn="ctr">
                  <a:buFont typeface="Wingdings" panose="05000000000000000000" pitchFamily="2" charset="2"/>
                  <a:buChar char="q"/>
                </a:pPr>
                <a:r>
                  <a:rPr lang="en-IN" sz="1600" b="1" dirty="0">
                    <a:solidFill>
                      <a:srgbClr val="FFFF00"/>
                    </a:solidFill>
                  </a:rPr>
                  <a:t>GMV:</a:t>
                </a:r>
                <a:r>
                  <a:rPr lang="en-IN" sz="1600" dirty="0">
                    <a:solidFill>
                      <a:srgbClr val="FFFF00"/>
                    </a:solidFill>
                  </a:rPr>
                  <a:t> </a:t>
                </a:r>
                <a:r>
                  <a:rPr lang="en-IN" sz="1600" b="1" dirty="0">
                    <a:solidFill>
                      <a:srgbClr val="4ADE80"/>
                    </a:solidFill>
                  </a:rPr>
                  <a:t>Gross Merchandise Value </a:t>
                </a:r>
                <a:r>
                  <a:rPr lang="en-IN" sz="1600" dirty="0"/>
                  <a:t>(Total order volume) </a:t>
                </a:r>
              </a:p>
              <a:p>
                <a:pPr marL="285750" indent="-285750" algn="ctr">
                  <a:buFont typeface="Wingdings" panose="05000000000000000000" pitchFamily="2" charset="2"/>
                  <a:buChar char="q"/>
                </a:pPr>
                <a:r>
                  <a:rPr lang="en-IN" sz="1600" b="1" dirty="0">
                    <a:solidFill>
                      <a:srgbClr val="FFFF00"/>
                    </a:solidFill>
                  </a:rPr>
                  <a:t>CM2 %:</a:t>
                </a:r>
                <a:r>
                  <a:rPr lang="en-IN" sz="1600" dirty="0">
                    <a:solidFill>
                      <a:srgbClr val="FFFF00"/>
                    </a:solidFill>
                  </a:rPr>
                  <a:t> </a:t>
                </a:r>
                <a:r>
                  <a:rPr lang="en-IN" sz="1600" b="1" dirty="0">
                    <a:solidFill>
                      <a:srgbClr val="4ADE80"/>
                    </a:solidFill>
                  </a:rPr>
                  <a:t>Contribution Margin 2 </a:t>
                </a:r>
                <a:r>
                  <a:rPr lang="en-IN" sz="1600" dirty="0"/>
                  <a:t>Realization Rate </a:t>
                </a:r>
                <a:r>
                  <a:rPr lang="en-IN" sz="1600" b="1" dirty="0"/>
                  <a:t>(</a:t>
                </a:r>
                <a:r>
                  <a:rPr lang="en-IN" sz="16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Net variable profit </a:t>
                </a:r>
                <a14:m>
                  <m:oMath xmlns:m="http://schemas.openxmlformats.org/officeDocument/2006/math">
                    <m:r>
                      <a:rPr lang="en-IN" sz="1600" b="1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rPr>
                      <m:t>÷</m:t>
                    </m:r>
                  </m:oMath>
                </a14:m>
                <a:r>
                  <a:rPr lang="en-IN" sz="16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Net Revenue</a:t>
                </a:r>
                <a:r>
                  <a:rPr lang="en-IN" sz="1600" b="1" dirty="0"/>
                  <a:t>)</a:t>
                </a:r>
              </a:p>
              <a:p>
                <a:pPr marL="285750" indent="-285750" algn="ctr">
                  <a:buFont typeface="Wingdings" panose="05000000000000000000" pitchFamily="2" charset="2"/>
                  <a:buChar char="q"/>
                </a:pPr>
                <a:r>
                  <a:rPr lang="en-IN" sz="1600" b="1" dirty="0">
                    <a:solidFill>
                      <a:srgbClr val="FFFF00"/>
                    </a:solidFill>
                  </a:rPr>
                  <a:t>UPI:</a:t>
                </a:r>
                <a:r>
                  <a:rPr lang="en-IN" sz="1600" dirty="0">
                    <a:solidFill>
                      <a:srgbClr val="FFFF00"/>
                    </a:solidFill>
                  </a:rPr>
                  <a:t> </a:t>
                </a:r>
                <a:r>
                  <a:rPr lang="en-IN" sz="1600" b="1" dirty="0">
                    <a:solidFill>
                      <a:srgbClr val="4ADE80"/>
                    </a:solidFill>
                  </a:rPr>
                  <a:t>Unified Payments Interface </a:t>
                </a:r>
              </a:p>
            </p:txBody>
          </p:sp>
        </mc:Choice>
        <mc:Fallback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F66D6470-EBF2-4924-AF37-4E00A0ED50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33" y="5093110"/>
                <a:ext cx="6490947" cy="1617408"/>
              </a:xfrm>
              <a:prstGeom prst="roundRect">
                <a:avLst/>
              </a:prstGeom>
              <a:blipFill>
                <a:blip r:embed="rId3"/>
                <a:stretch>
                  <a:fillRect t="-1119" b="-4104"/>
                </a:stretch>
              </a:blipFill>
              <a:ln>
                <a:solidFill>
                  <a:srgbClr val="4ADE8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7901329-B99C-44E2-2AA8-F216A27AE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12" y="1009655"/>
            <a:ext cx="6919768" cy="389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845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3B813A6-933B-9AA9-6926-548AF780C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064" y="325797"/>
            <a:ext cx="11068665" cy="765585"/>
          </a:xfrm>
        </p:spPr>
        <p:txBody>
          <a:bodyPr>
            <a:normAutofit/>
          </a:bodyPr>
          <a:lstStyle/>
          <a:p>
            <a:r>
              <a:rPr lang="en-IN" sz="2200" dirty="0">
                <a:solidFill>
                  <a:srgbClr val="38BDF8"/>
                </a:solidFill>
              </a:rPr>
              <a:t>05. OPERATIONS AUDIT | DARKSTORE FULFILLMENT &amp; SLA LEAKS</a:t>
            </a:r>
            <a:br>
              <a:rPr lang="en-IN" sz="2200" dirty="0">
                <a:solidFill>
                  <a:srgbClr val="38BDF8"/>
                </a:solidFill>
              </a:rPr>
            </a:br>
            <a:r>
              <a:rPr lang="en-IN" sz="2200" dirty="0">
                <a:solidFill>
                  <a:srgbClr val="94A3B8"/>
                </a:solidFill>
              </a:rPr>
              <a:t>Root-cause analysis linking </a:t>
            </a:r>
            <a:r>
              <a:rPr lang="en-IN" sz="2200" dirty="0" err="1">
                <a:solidFill>
                  <a:srgbClr val="94A3B8"/>
                </a:solidFill>
              </a:rPr>
              <a:t>darkstore</a:t>
            </a:r>
            <a:r>
              <a:rPr lang="en-IN" sz="2200" dirty="0">
                <a:solidFill>
                  <a:srgbClr val="94A3B8"/>
                </a:solidFill>
              </a:rPr>
              <a:t> dispatch delays to delivery failure rates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020DBA5-F67F-0033-4226-199F83496128}"/>
              </a:ext>
            </a:extLst>
          </p:cNvPr>
          <p:cNvSpPr/>
          <p:nvPr/>
        </p:nvSpPr>
        <p:spPr>
          <a:xfrm>
            <a:off x="7143495" y="1073578"/>
            <a:ext cx="4862674" cy="5632022"/>
          </a:xfrm>
          <a:prstGeom prst="roundRect">
            <a:avLst/>
          </a:prstGeom>
          <a:solidFill>
            <a:srgbClr val="151E32"/>
          </a:solidFill>
          <a:ln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eriod"/>
            </a:pPr>
            <a:r>
              <a:rPr lang="en-IN" sz="1600" b="1" dirty="0">
                <a:solidFill>
                  <a:srgbClr val="94A3B8"/>
                </a:solidFill>
              </a:rPr>
              <a:t>Fleet Operations Summary:</a:t>
            </a:r>
            <a:r>
              <a:rPr lang="en-IN" sz="1600" dirty="0"/>
              <a:t> Dispatched 7,000 orders at a logistics cost of ₹350.22K (~₹50.03 per drop), with 253 orders experiencing delays exceeding 15 minutes.</a:t>
            </a:r>
          </a:p>
          <a:p>
            <a:pPr marL="342900" indent="-342900" algn="ctr">
              <a:buFont typeface="+mj-lt"/>
              <a:buAutoNum type="arabicPeriod"/>
            </a:pPr>
            <a:endParaRPr lang="en-IN" sz="1600" dirty="0"/>
          </a:p>
          <a:p>
            <a:pPr marL="342900" indent="-342900" algn="ctr">
              <a:buFont typeface="+mj-lt"/>
              <a:buAutoNum type="arabicPeriod"/>
            </a:pPr>
            <a:r>
              <a:rPr lang="en-IN" sz="1600" b="1" dirty="0">
                <a:solidFill>
                  <a:srgbClr val="94A3B8"/>
                </a:solidFill>
              </a:rPr>
              <a:t>4D Diagnostic Analysis:</a:t>
            </a:r>
            <a:r>
              <a:rPr lang="en-IN" sz="1600" dirty="0">
                <a:solidFill>
                  <a:srgbClr val="94A3B8"/>
                </a:solidFill>
              </a:rPr>
              <a:t> </a:t>
            </a:r>
            <a:r>
              <a:rPr lang="en-IN" sz="1600" dirty="0"/>
              <a:t>The scatter visual plots delay against doorstep returns across store sizes and regions, confirming the operational impact identified in earlier statistical testing.</a:t>
            </a:r>
          </a:p>
          <a:p>
            <a:pPr marL="342900" indent="-342900" algn="ctr">
              <a:buFont typeface="+mj-lt"/>
              <a:buAutoNum type="arabicPeriod"/>
            </a:pPr>
            <a:endParaRPr lang="en-IN" sz="1600" dirty="0"/>
          </a:p>
          <a:p>
            <a:pPr lvl="0"/>
            <a:r>
              <a:rPr lang="en-IN" sz="1600" b="1" dirty="0">
                <a:solidFill>
                  <a:srgbClr val="94A3B8"/>
                </a:solidFill>
              </a:rPr>
              <a:t>3. Offender Rankings:</a:t>
            </a:r>
            <a:r>
              <a:rPr lang="en-IN" sz="1600" dirty="0">
                <a:solidFill>
                  <a:srgbClr val="94A3B8"/>
                </a:solidFill>
              </a:rPr>
              <a:t> </a:t>
            </a:r>
            <a:r>
              <a:rPr lang="en-IN" sz="1600" dirty="0"/>
              <a:t>Identifies the five </a:t>
            </a:r>
            <a:r>
              <a:rPr lang="en-IN" sz="1600" dirty="0" err="1"/>
              <a:t>darkstores</a:t>
            </a:r>
            <a:r>
              <a:rPr lang="en-IN" sz="1600" dirty="0"/>
              <a:t> generating the highest volume of severe delivery breaches: Gurugram Sector-29 	(29), Koramangala (25), Powai (24), Viman Nagar (23), and Andheri Logistics (21).</a:t>
            </a:r>
          </a:p>
          <a:p>
            <a:pPr algn="ctr"/>
            <a:endParaRPr lang="en-IN" sz="1600" dirty="0"/>
          </a:p>
          <a:p>
            <a:pPr algn="ctr"/>
            <a:r>
              <a:rPr lang="en-IN" sz="1600" b="1" dirty="0">
                <a:solidFill>
                  <a:srgbClr val="94A3B8"/>
                </a:solidFill>
              </a:rPr>
              <a:t>4. Regional Logistics Ledger:</a:t>
            </a:r>
            <a:r>
              <a:rPr lang="en-IN" sz="1600" dirty="0">
                <a:solidFill>
                  <a:srgbClr val="94A3B8"/>
                </a:solidFill>
              </a:rPr>
              <a:t> </a:t>
            </a:r>
            <a:r>
              <a:rPr lang="en-IN" sz="1600" dirty="0"/>
              <a:t>The </a:t>
            </a:r>
            <a:r>
              <a:rPr lang="en-IN" sz="1600" dirty="0" err="1"/>
              <a:t>fulfillment</a:t>
            </a:r>
            <a:r>
              <a:rPr lang="en-IN" sz="1600" dirty="0"/>
              <a:t> matrix details operational and financial performance by city, highlighting how Bangalore (-₹49.5K) and Delhi NCR (-₹48.6K) drive the bulk of the network's -₹2.41 Lakh delivery deficit.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B5F7D5CE-63D6-566A-A4FB-D1472639142C}"/>
                  </a:ext>
                </a:extLst>
              </p:cNvPr>
              <p:cNvSpPr/>
              <p:nvPr/>
            </p:nvSpPr>
            <p:spPr>
              <a:xfrm>
                <a:off x="355449" y="4827638"/>
                <a:ext cx="6675298" cy="1877962"/>
              </a:xfrm>
              <a:prstGeom prst="roundRect">
                <a:avLst/>
              </a:prstGeom>
              <a:solidFill>
                <a:srgbClr val="151E32"/>
              </a:solidFill>
              <a:ln>
                <a:solidFill>
                  <a:srgbClr val="38BDF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700" b="1" u="sng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Abbreviations</a:t>
                </a:r>
                <a:r>
                  <a:rPr lang="en-IN" sz="1200" b="1" u="sng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:</a:t>
                </a:r>
                <a:endParaRPr lang="en-IN" sz="1200" b="1" dirty="0"/>
              </a:p>
              <a:p>
                <a:pPr lvl="0" algn="ctr"/>
                <a:endParaRPr lang="en-IN" sz="1600" dirty="0"/>
              </a:p>
              <a:p>
                <a:pPr marL="285750" lvl="0" indent="-285750" algn="ctr">
                  <a:buFont typeface="Wingdings" panose="05000000000000000000" pitchFamily="2" charset="2"/>
                  <a:buChar char="q"/>
                </a:pPr>
                <a:r>
                  <a:rPr lang="en-IN" sz="1600" b="1" dirty="0">
                    <a:solidFill>
                      <a:srgbClr val="FFFF00"/>
                    </a:solidFill>
                  </a:rPr>
                  <a:t>SLA:</a:t>
                </a:r>
                <a:r>
                  <a:rPr lang="en-IN" sz="1600" dirty="0">
                    <a:solidFill>
                      <a:srgbClr val="FFFF00"/>
                    </a:solidFill>
                  </a:rPr>
                  <a:t> </a:t>
                </a:r>
                <a:r>
                  <a:rPr lang="en-IN" sz="1600" b="1" dirty="0">
                    <a:solidFill>
                      <a:srgbClr val="4ADE80"/>
                    </a:solidFill>
                  </a:rPr>
                  <a:t>Service Level Agreement </a:t>
                </a:r>
                <a:r>
                  <a:rPr lang="en-IN" sz="1600" dirty="0"/>
                  <a:t>(Promised 10 to 15-minute delivery window) </a:t>
                </a:r>
              </a:p>
              <a:p>
                <a:pPr marL="285750" lvl="0" indent="-285750" algn="ctr">
                  <a:buFont typeface="Wingdings" panose="05000000000000000000" pitchFamily="2" charset="2"/>
                  <a:buChar char="q"/>
                </a:pPr>
                <a:r>
                  <a:rPr lang="en-IN" sz="1600" b="1" dirty="0"/>
                  <a:t>S</a:t>
                </a:r>
                <a:r>
                  <a:rPr lang="en-IN" sz="1600" b="1" dirty="0">
                    <a:solidFill>
                      <a:srgbClr val="FFFF00"/>
                    </a:solidFill>
                  </a:rPr>
                  <a:t>LA Breach:</a:t>
                </a:r>
                <a:r>
                  <a:rPr lang="en-IN" sz="1600" dirty="0">
                    <a:solidFill>
                      <a:srgbClr val="FFFF00"/>
                    </a:solidFill>
                  </a:rPr>
                  <a:t> </a:t>
                </a:r>
                <a:r>
                  <a:rPr lang="en-IN" sz="1600" dirty="0"/>
                  <a:t>Delayed delivery orders exceeding the cutoff window by </a:t>
                </a:r>
                <a14:m>
                  <m:oMath xmlns:m="http://schemas.openxmlformats.org/officeDocument/2006/math">
                    <m:r>
                      <a:rPr lang="en-IN" sz="1600"/>
                      <m:t>&gt;15</m:t>
                    </m:r>
                  </m:oMath>
                </a14:m>
                <a:r>
                  <a:rPr lang="en-IN" sz="1600" dirty="0"/>
                  <a:t>minutes </a:t>
                </a:r>
              </a:p>
              <a:p>
                <a:pPr marL="285750" lvl="0" indent="-285750" algn="ctr">
                  <a:buFont typeface="Wingdings" panose="05000000000000000000" pitchFamily="2" charset="2"/>
                  <a:buChar char="q"/>
                </a:pPr>
                <a:r>
                  <a:rPr lang="en-IN" sz="1600" b="1" dirty="0" err="1">
                    <a:solidFill>
                      <a:srgbClr val="FFFF00"/>
                    </a:solidFill>
                  </a:rPr>
                  <a:t>Darkstore</a:t>
                </a:r>
                <a:r>
                  <a:rPr lang="en-IN" sz="1600" b="1" dirty="0">
                    <a:solidFill>
                      <a:srgbClr val="FFFF00"/>
                    </a:solidFill>
                  </a:rPr>
                  <a:t>:</a:t>
                </a:r>
                <a:r>
                  <a:rPr lang="en-IN" sz="1600" dirty="0">
                    <a:solidFill>
                      <a:srgbClr val="FFFF00"/>
                    </a:solidFill>
                  </a:rPr>
                  <a:t> </a:t>
                </a:r>
                <a:r>
                  <a:rPr lang="en-IN" sz="1600" dirty="0"/>
                  <a:t>Local micro-</a:t>
                </a:r>
                <a:r>
                  <a:rPr lang="en-IN" sz="1600" dirty="0" err="1"/>
                  <a:t>fulfillment</a:t>
                </a:r>
                <a:r>
                  <a:rPr lang="en-IN" sz="1600" dirty="0"/>
                  <a:t> hub optimized for rapid dispatch </a:t>
                </a:r>
              </a:p>
            </p:txBody>
          </p:sp>
        </mc:Choice>
        <mc:Fallback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B5F7D5CE-63D6-566A-A4FB-D147263914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449" y="4827638"/>
                <a:ext cx="6675298" cy="1877962"/>
              </a:xfrm>
              <a:prstGeom prst="roundRect">
                <a:avLst/>
              </a:prstGeom>
              <a:blipFill>
                <a:blip r:embed="rId2"/>
                <a:stretch>
                  <a:fillRect b="-2258"/>
                </a:stretch>
              </a:blipFill>
              <a:ln>
                <a:solidFill>
                  <a:srgbClr val="38BDF8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B314662-77DD-A6A0-EF52-EA616BE89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57" y="1091381"/>
            <a:ext cx="6675298" cy="373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269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77EBCBA-DF2E-3E6F-6ACA-10C767AAF03F}"/>
              </a:ext>
            </a:extLst>
          </p:cNvPr>
          <p:cNvSpPr txBox="1">
            <a:spLocks/>
          </p:cNvSpPr>
          <p:nvPr/>
        </p:nvSpPr>
        <p:spPr>
          <a:xfrm>
            <a:off x="621889" y="266803"/>
            <a:ext cx="10999840" cy="7262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200" dirty="0">
                <a:solidFill>
                  <a:srgbClr val="38BDF8"/>
                </a:solidFill>
              </a:rPr>
              <a:t>06. STRATEGIC DECISION ENGINE | DYNAMIC SCENARIO SIMULATION</a:t>
            </a:r>
            <a:br>
              <a:rPr lang="en-IN" sz="2200" dirty="0">
                <a:solidFill>
                  <a:srgbClr val="38BDF8"/>
                </a:solidFill>
              </a:rPr>
            </a:br>
            <a:r>
              <a:rPr lang="en-IN" sz="2200" dirty="0">
                <a:solidFill>
                  <a:srgbClr val="94A3B8"/>
                </a:solidFill>
              </a:rPr>
              <a:t>Interactive What-If </a:t>
            </a:r>
            <a:r>
              <a:rPr lang="en-IN" sz="2200" dirty="0" err="1">
                <a:solidFill>
                  <a:srgbClr val="94A3B8"/>
                </a:solidFill>
              </a:rPr>
              <a:t>modeling</a:t>
            </a:r>
            <a:r>
              <a:rPr lang="en-IN" sz="2200" dirty="0">
                <a:solidFill>
                  <a:srgbClr val="94A3B8"/>
                </a:solidFill>
              </a:rPr>
              <a:t> to evaluate delivery surcharge recovery scenarios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B348F08-6ECA-0D65-4F24-300F9BB9208D}"/>
              </a:ext>
            </a:extLst>
          </p:cNvPr>
          <p:cNvSpPr/>
          <p:nvPr/>
        </p:nvSpPr>
        <p:spPr>
          <a:xfrm>
            <a:off x="7295534" y="1073577"/>
            <a:ext cx="4748981" cy="5517620"/>
          </a:xfrm>
          <a:prstGeom prst="roundRect">
            <a:avLst/>
          </a:prstGeom>
          <a:solidFill>
            <a:srgbClr val="151E32"/>
          </a:solidFill>
          <a:ln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eriod"/>
            </a:pPr>
            <a:r>
              <a:rPr lang="en-IN" sz="1600" b="1" dirty="0">
                <a:solidFill>
                  <a:srgbClr val="94A3B8"/>
                </a:solidFill>
              </a:rPr>
              <a:t>Scenario Parameter Controls: </a:t>
            </a:r>
            <a:r>
              <a:rPr lang="en-IN" sz="1600" dirty="0"/>
              <a:t>Built via DAX What-If tables </a:t>
            </a:r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(GENERATESERIES(-15, 25, 0.5))</a:t>
            </a:r>
            <a:r>
              <a:rPr lang="en-IN" sz="1600" dirty="0"/>
              <a:t>, enabling executives to simulate fee adjustments across fractional and whole-rupee values.</a:t>
            </a:r>
          </a:p>
          <a:p>
            <a:pPr marL="342900" indent="-342900" algn="ctr">
              <a:buFont typeface="+mj-lt"/>
              <a:buAutoNum type="arabicPeriod"/>
            </a:pPr>
            <a:endParaRPr lang="en-IN" sz="1600" dirty="0"/>
          </a:p>
          <a:p>
            <a:pPr marL="342900" indent="-342900" algn="ctr">
              <a:buFont typeface="+mj-lt"/>
              <a:buAutoNum type="arabicPeriod"/>
            </a:pPr>
            <a:r>
              <a:rPr lang="en-IN" sz="1600" b="1" dirty="0">
                <a:solidFill>
                  <a:srgbClr val="94A3B8"/>
                </a:solidFill>
              </a:rPr>
              <a:t>Profit Impact Scorecard: </a:t>
            </a:r>
            <a:r>
              <a:rPr lang="en-IN" sz="1600" dirty="0"/>
              <a:t>At the benchmark +₹5.00 setting, the simulator calculates a </a:t>
            </a:r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+7.18% increase in CM2 profit</a:t>
            </a:r>
            <a:r>
              <a:rPr lang="en-IN" sz="1600" dirty="0"/>
              <a:t>, converting directly into </a:t>
            </a:r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₹30,460 of incremental cash flow</a:t>
            </a:r>
            <a:r>
              <a:rPr lang="en-IN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1600" dirty="0"/>
              <a:t>without requiring additional order volume.</a:t>
            </a:r>
          </a:p>
          <a:p>
            <a:pPr marL="342900" indent="-342900" algn="ctr">
              <a:buFont typeface="+mj-lt"/>
              <a:buAutoNum type="arabicPeriod"/>
            </a:pPr>
            <a:endParaRPr lang="en-IN" sz="1600" dirty="0"/>
          </a:p>
          <a:p>
            <a:pPr marL="342900" indent="-342900" algn="ctr">
              <a:buFont typeface="+mj-lt"/>
              <a:buAutoNum type="arabicPeriod"/>
            </a:pPr>
            <a:r>
              <a:rPr lang="en-IN" sz="1600" b="1" dirty="0">
                <a:solidFill>
                  <a:srgbClr val="94A3B8"/>
                </a:solidFill>
              </a:rPr>
              <a:t>Financial Bridge Visualization:</a:t>
            </a:r>
            <a:r>
              <a:rPr lang="en-IN" sz="1600" dirty="0">
                <a:solidFill>
                  <a:srgbClr val="94A3B8"/>
                </a:solidFill>
              </a:rPr>
              <a:t> </a:t>
            </a:r>
            <a:r>
              <a:rPr lang="en-IN" sz="1600" dirty="0"/>
              <a:t>The waterfall chart displays the progression from baseline profit (₹0.42M) through fee recovery 	(₹0.03M) to the simulated endpoint (₹0.45M).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IN" sz="1600" b="1" dirty="0">
                <a:solidFill>
                  <a:srgbClr val="94A3B8"/>
                </a:solidFill>
              </a:rPr>
              <a:t>Strategic Policy Translation:</a:t>
            </a:r>
            <a:r>
              <a:rPr lang="en-IN" sz="1600" dirty="0">
                <a:solidFill>
                  <a:srgbClr val="94A3B8"/>
                </a:solidFill>
              </a:rPr>
              <a:t> </a:t>
            </a:r>
            <a:r>
              <a:rPr lang="en-IN" sz="1600" dirty="0"/>
              <a:t>Links scenario </a:t>
            </a:r>
            <a:r>
              <a:rPr lang="en-IN" sz="1600" dirty="0" err="1"/>
              <a:t>modeling</a:t>
            </a:r>
            <a:r>
              <a:rPr lang="en-IN" sz="1600" dirty="0"/>
              <a:t> directly to actionable commercial policy changes.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C44B46D-9FFE-3C6E-0569-E920D092D23F}"/>
              </a:ext>
            </a:extLst>
          </p:cNvPr>
          <p:cNvSpPr/>
          <p:nvPr/>
        </p:nvSpPr>
        <p:spPr>
          <a:xfrm>
            <a:off x="196645" y="4976983"/>
            <a:ext cx="6966799" cy="1758113"/>
          </a:xfrm>
          <a:prstGeom prst="roundRect">
            <a:avLst/>
          </a:prstGeom>
          <a:solidFill>
            <a:srgbClr val="151E32"/>
          </a:solidFill>
          <a:ln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u="sng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Abbreviations</a:t>
            </a:r>
            <a:r>
              <a:rPr lang="en-IN" sz="1400" b="1" u="sng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:</a:t>
            </a:r>
          </a:p>
          <a:p>
            <a:pPr algn="ctr"/>
            <a:endParaRPr lang="en-IN" sz="1600" b="1" u="sng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IN" sz="1600" b="1" dirty="0">
                <a:solidFill>
                  <a:srgbClr val="FFFF00"/>
                </a:solidFill>
              </a:rPr>
              <a:t>DAX:</a:t>
            </a:r>
            <a:r>
              <a:rPr lang="en-IN" sz="1600" dirty="0">
                <a:solidFill>
                  <a:srgbClr val="FFFF00"/>
                </a:solidFill>
              </a:rPr>
              <a:t> </a:t>
            </a:r>
            <a:r>
              <a:rPr lang="en-IN" sz="1600" b="1" dirty="0">
                <a:solidFill>
                  <a:srgbClr val="4ADE80"/>
                </a:solidFill>
              </a:rPr>
              <a:t>Data Analysis Expressions </a:t>
            </a:r>
            <a:r>
              <a:rPr lang="en-IN" sz="1600" dirty="0"/>
              <a:t>(Power BI formula and calculation language) </a:t>
            </a:r>
          </a:p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IN" sz="1600" b="1" dirty="0">
                <a:solidFill>
                  <a:srgbClr val="FFFF00"/>
                </a:solidFill>
              </a:rPr>
              <a:t>What-If Parameter:</a:t>
            </a:r>
            <a:r>
              <a:rPr lang="en-IN" sz="1600" dirty="0">
                <a:solidFill>
                  <a:srgbClr val="FFFF00"/>
                </a:solidFill>
              </a:rPr>
              <a:t> </a:t>
            </a:r>
            <a:r>
              <a:rPr lang="en-IN" sz="1600" dirty="0"/>
              <a:t>Dynamic tabular variable used to simulate real-time price sensitivity </a:t>
            </a:r>
          </a:p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IN" sz="1600" b="1" dirty="0">
                <a:solidFill>
                  <a:srgbClr val="FFFF00"/>
                </a:solidFill>
              </a:rPr>
              <a:t>Incremental Cash Flow:</a:t>
            </a:r>
            <a:r>
              <a:rPr lang="en-IN" sz="1600" dirty="0">
                <a:solidFill>
                  <a:srgbClr val="FFFF00"/>
                </a:solidFill>
              </a:rPr>
              <a:t> </a:t>
            </a:r>
            <a:r>
              <a:rPr lang="en-IN" sz="1600" dirty="0"/>
              <a:t>Direct cash addition to CM2 from fee adjustments </a:t>
            </a:r>
            <a:endParaRPr lang="en-IN" sz="16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E4660E-74D1-F723-C433-F7934CDB3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94" y="1073577"/>
            <a:ext cx="6818491" cy="3822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170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5F55A-89F3-9E25-5C5B-3A9B879F5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" y="354965"/>
            <a:ext cx="11059160" cy="904875"/>
          </a:xfrm>
        </p:spPr>
        <p:txBody>
          <a:bodyPr>
            <a:normAutofit/>
          </a:bodyPr>
          <a:lstStyle/>
          <a:p>
            <a:r>
              <a:rPr lang="en-IN" sz="2200" dirty="0">
                <a:solidFill>
                  <a:srgbClr val="38BDF8"/>
                </a:solidFill>
                <a:latin typeface="+mn-lt"/>
              </a:rPr>
              <a:t>07. STRATEGIC POLICY MATRIX | ACTIONABLE INTERVENTIONS</a:t>
            </a:r>
            <a:br>
              <a:rPr lang="en-IN" sz="2200" dirty="0">
                <a:latin typeface="+mn-lt"/>
              </a:rPr>
            </a:br>
            <a:r>
              <a:rPr lang="en-IN" sz="2200" dirty="0">
                <a:solidFill>
                  <a:srgbClr val="94A3B8"/>
                </a:solidFill>
                <a:latin typeface="+mn-lt"/>
              </a:rPr>
              <a:t>Four commercial and operational policy adjustments to recover contribution margin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56D7382-00A1-969E-4CED-F1369894F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444471"/>
              </p:ext>
            </p:extLst>
          </p:nvPr>
        </p:nvGraphicFramePr>
        <p:xfrm>
          <a:off x="678426" y="1200446"/>
          <a:ext cx="11059159" cy="4443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7260">
                  <a:extLst>
                    <a:ext uri="{9D8B030D-6E8A-4147-A177-3AD203B41FA5}">
                      <a16:colId xmlns:a16="http://schemas.microsoft.com/office/drawing/2014/main" val="1506605795"/>
                    </a:ext>
                  </a:extLst>
                </a:gridCol>
                <a:gridCol w="2707260">
                  <a:extLst>
                    <a:ext uri="{9D8B030D-6E8A-4147-A177-3AD203B41FA5}">
                      <a16:colId xmlns:a16="http://schemas.microsoft.com/office/drawing/2014/main" val="1435403495"/>
                    </a:ext>
                  </a:extLst>
                </a:gridCol>
                <a:gridCol w="2707260">
                  <a:extLst>
                    <a:ext uri="{9D8B030D-6E8A-4147-A177-3AD203B41FA5}">
                      <a16:colId xmlns:a16="http://schemas.microsoft.com/office/drawing/2014/main" val="822333878"/>
                    </a:ext>
                  </a:extLst>
                </a:gridCol>
                <a:gridCol w="2937379">
                  <a:extLst>
                    <a:ext uri="{9D8B030D-6E8A-4147-A177-3AD203B41FA5}">
                      <a16:colId xmlns:a16="http://schemas.microsoft.com/office/drawing/2014/main" val="297041943"/>
                    </a:ext>
                  </a:extLst>
                </a:gridCol>
              </a:tblGrid>
              <a:tr h="511716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38BDF8"/>
                          </a:solidFill>
                        </a:rPr>
                        <a:t>Metric / Lever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38BDF8"/>
                          </a:solidFill>
                        </a:rPr>
                        <a:t>Current State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38BDF8"/>
                          </a:solidFill>
                        </a:rPr>
                        <a:t>Proposed State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38BDF8"/>
                          </a:solidFill>
                        </a:rPr>
                        <a:t>Strategic Impact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501118"/>
                  </a:ext>
                </a:extLst>
              </a:tr>
              <a:tr h="913802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rPr>
                        <a:t>Micro-Order Fee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E2E8F0"/>
                          </a:solidFill>
                        </a:rPr>
                        <a:t>Flat ₹30 fee on baskets under ₹250 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E2E8F0"/>
                          </a:solidFill>
                        </a:rPr>
                        <a:t>₹45 surcharge on baskets under ₹250 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E2E8F0"/>
                          </a:solidFill>
                        </a:rPr>
                        <a:t>Mitigates negative variable margin on single-item purchases 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207537"/>
                  </a:ext>
                </a:extLst>
              </a:tr>
              <a:tr h="913802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rPr>
                        <a:t>Free Delivery Floor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E2E8F0"/>
                          </a:solidFill>
                        </a:rPr>
                        <a:t>₹399 threshold 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E2E8F0"/>
                          </a:solidFill>
                        </a:rPr>
                        <a:t>₹449 threshold 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E2E8F0"/>
                          </a:solidFill>
                        </a:rPr>
                        <a:t>Encourages basket expansion and lifts Average Order Value (AOV) 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418305"/>
                  </a:ext>
                </a:extLst>
              </a:tr>
              <a:tr h="130697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rPr>
                        <a:t>Hub Delivery Radius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E2E8F0"/>
                          </a:solidFill>
                        </a:rPr>
                        <a:t>Static 4.5 km boundary 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E2E8F0"/>
                          </a:solidFill>
                        </a:rPr>
                        <a:t>Dynamic 3.2 km radius during peak evening hours 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E2E8F0"/>
                          </a:solidFill>
                        </a:rPr>
                        <a:t>Addresses traffic and dispatch bottlenecks responsible for the most severe SLA breaches during peak evening hours.</a:t>
                      </a:r>
                    </a:p>
                  </a:txBody>
                  <a:tcPr anchor="ctr">
                    <a:solidFill>
                      <a:srgbClr val="151E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092615"/>
                  </a:ext>
                </a:extLst>
              </a:tr>
              <a:tr h="639661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rPr>
                        <a:t>Loyalty Promo Spend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E2E8F0"/>
                          </a:solidFill>
                        </a:rPr>
                        <a:t>Blanket percentage discounts 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E2E8F0"/>
                          </a:solidFill>
                        </a:rPr>
                        <a:t>Minimum basket requirement of ₹600+ 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E2E8F0"/>
                          </a:solidFill>
                        </a:rPr>
                        <a:t>Targets promotional spend toward higher-value orders 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824830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7E6BF5-C25E-F8AF-06E4-FF7903455DC3}"/>
              </a:ext>
            </a:extLst>
          </p:cNvPr>
          <p:cNvSpPr/>
          <p:nvPr/>
        </p:nvSpPr>
        <p:spPr>
          <a:xfrm>
            <a:off x="762986" y="5751866"/>
            <a:ext cx="10681762" cy="1002891"/>
          </a:xfrm>
          <a:prstGeom prst="roundRect">
            <a:avLst/>
          </a:prstGeom>
          <a:solidFill>
            <a:srgbClr val="151E32"/>
          </a:solidFill>
          <a:ln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IN" b="1" i="1" dirty="0">
                <a:solidFill>
                  <a:srgbClr val="94A3B8"/>
                </a:solidFill>
              </a:rPr>
              <a:t>Summary: </a:t>
            </a:r>
            <a:r>
              <a:rPr lang="en-IN" i="1" dirty="0"/>
              <a:t>These policy adjustments address both sides of the unit economics equation—reducing </a:t>
            </a:r>
            <a:r>
              <a:rPr lang="en-IN" i="1" dirty="0" err="1"/>
              <a:t>fulfillment</a:t>
            </a:r>
            <a:r>
              <a:rPr lang="en-IN" i="1" dirty="0"/>
              <a:t> delivery delays while recovering logistics costs across small baskets.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391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7279A-383B-CDD3-5847-5F574082F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570" y="335630"/>
            <a:ext cx="11353800" cy="824578"/>
          </a:xfrm>
        </p:spPr>
        <p:txBody>
          <a:bodyPr>
            <a:normAutofit/>
          </a:bodyPr>
          <a:lstStyle/>
          <a:p>
            <a:r>
              <a:rPr lang="en-IN" sz="2200" dirty="0">
                <a:solidFill>
                  <a:srgbClr val="38BDF8"/>
                </a:solidFill>
              </a:rPr>
              <a:t>08. TECHNICAL STACK &amp; PROJECT ARTIFACTS</a:t>
            </a:r>
            <a:br>
              <a:rPr lang="en-IN" sz="2200" dirty="0">
                <a:solidFill>
                  <a:srgbClr val="38BDF8"/>
                </a:solidFill>
              </a:rPr>
            </a:br>
            <a:r>
              <a:rPr lang="en-IN" sz="2200" dirty="0">
                <a:solidFill>
                  <a:srgbClr val="94A3B8"/>
                </a:solidFill>
              </a:rPr>
              <a:t>Summary of engineering artifacts and analytical methodologies applied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18CBF11-71E6-04E9-45CE-37AA12A14006}"/>
              </a:ext>
            </a:extLst>
          </p:cNvPr>
          <p:cNvSpPr/>
          <p:nvPr/>
        </p:nvSpPr>
        <p:spPr>
          <a:xfrm>
            <a:off x="462989" y="1217339"/>
            <a:ext cx="4885760" cy="4023255"/>
          </a:xfrm>
          <a:prstGeom prst="roundRect">
            <a:avLst/>
          </a:prstGeom>
          <a:solidFill>
            <a:srgbClr val="151E32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FACC15"/>
                </a:solidFill>
              </a:rPr>
              <a:t>Data Warehouse &amp; SQL Pipeline</a:t>
            </a:r>
          </a:p>
          <a:p>
            <a:pPr algn="ctr"/>
            <a:endParaRPr lang="en-IN" dirty="0">
              <a:solidFill>
                <a:srgbClr val="FACC15"/>
              </a:solidFill>
            </a:endParaRPr>
          </a:p>
          <a:p>
            <a:pPr marL="342900" indent="-342900" algn="ctr">
              <a:buFont typeface="+mj-lt"/>
              <a:buAutoNum type="arabicPeriod"/>
            </a:pPr>
            <a:r>
              <a:rPr lang="en-IN" dirty="0"/>
              <a:t>Relational warehouse built in PostgreSQL 15 using standard 3NF star-schema design principles.</a:t>
            </a:r>
          </a:p>
          <a:p>
            <a:pPr marL="342900" indent="-342900" algn="ctr">
              <a:buFont typeface="+mj-lt"/>
              <a:buAutoNum type="arabicPeriod"/>
            </a:pPr>
            <a:endParaRPr lang="en-IN" dirty="0"/>
          </a:p>
          <a:p>
            <a:pPr marL="342900" indent="-342900" algn="ctr">
              <a:buFont typeface="+mj-lt"/>
              <a:buAutoNum type="arabicPeriod"/>
            </a:pPr>
            <a:r>
              <a:rPr lang="en-IN" dirty="0"/>
              <a:t>Explicit foreign key constraints and B-Tree indexing applied across dimension and fact tables.</a:t>
            </a:r>
          </a:p>
          <a:p>
            <a:pPr marL="342900" indent="-342900" algn="ctr">
              <a:buFont typeface="+mj-lt"/>
              <a:buAutoNum type="arabicPeriod"/>
            </a:pPr>
            <a:endParaRPr lang="en-IN" dirty="0"/>
          </a:p>
          <a:p>
            <a:pPr marL="342900" indent="-342900" algn="ctr">
              <a:buFont typeface="+mj-lt"/>
              <a:buAutoNum type="arabicPeriod"/>
            </a:pPr>
            <a:r>
              <a:rPr lang="en-IN" dirty="0"/>
              <a:t>Batch data loading managed via </a:t>
            </a:r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05_postgres_ingestion.py </a:t>
            </a:r>
            <a:r>
              <a:rPr lang="en-IN" dirty="0"/>
              <a:t>using </a:t>
            </a:r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psycopg2.extras.execute_values</a:t>
            </a:r>
            <a:r>
              <a:rPr lang="en-IN" dirty="0"/>
              <a:t>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C4ABC65-69AB-DC2D-8739-223A8735088A}"/>
              </a:ext>
            </a:extLst>
          </p:cNvPr>
          <p:cNvSpPr/>
          <p:nvPr/>
        </p:nvSpPr>
        <p:spPr>
          <a:xfrm>
            <a:off x="5683045" y="1217338"/>
            <a:ext cx="6135327" cy="4023256"/>
          </a:xfrm>
          <a:prstGeom prst="roundRect">
            <a:avLst/>
          </a:prstGeom>
          <a:solidFill>
            <a:srgbClr val="151E32"/>
          </a:solidFill>
          <a:ln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4ADE80"/>
                </a:solidFill>
              </a:rPr>
              <a:t>Statistical &amp; BI Implementation</a:t>
            </a:r>
            <a:endParaRPr lang="en-IN" b="1" dirty="0">
              <a:solidFill>
                <a:srgbClr val="4ADE80"/>
              </a:solidFill>
            </a:endParaRPr>
          </a:p>
          <a:p>
            <a:pPr algn="ctr"/>
            <a:endParaRPr lang="en-IN" dirty="0">
              <a:solidFill>
                <a:srgbClr val="38BDF8"/>
              </a:solidFill>
            </a:endParaRPr>
          </a:p>
          <a:p>
            <a:pPr marL="342900" indent="-342900" algn="ctr">
              <a:buFont typeface="+mj-lt"/>
              <a:buAutoNum type="arabicPeriod"/>
            </a:pPr>
            <a:r>
              <a:rPr lang="en-IN" dirty="0"/>
              <a:t>Data hygiene, type casting, and IQR delay </a:t>
            </a:r>
            <a:r>
              <a:rPr lang="en-IN" dirty="0" err="1"/>
              <a:t>winsorization</a:t>
            </a:r>
            <a:r>
              <a:rPr lang="en-IN" dirty="0"/>
              <a:t> handled in Python </a:t>
            </a:r>
            <a:r>
              <a:rPr lang="en-IN" b="1" dirty="0"/>
              <a:t>(</a:t>
            </a:r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03_data_cleaning.py</a:t>
            </a:r>
            <a:r>
              <a:rPr lang="en-IN" b="1" dirty="0"/>
              <a:t>)</a:t>
            </a:r>
            <a:r>
              <a:rPr lang="en-IN" dirty="0"/>
              <a:t>. </a:t>
            </a:r>
          </a:p>
          <a:p>
            <a:pPr marL="342900" indent="-342900" algn="ctr">
              <a:buFont typeface="+mj-lt"/>
              <a:buAutoNum type="arabicPeriod"/>
            </a:pPr>
            <a:endParaRPr lang="en-IN" dirty="0"/>
          </a:p>
          <a:p>
            <a:pPr marL="342900" indent="-342900" algn="ctr">
              <a:buFont typeface="+mj-lt"/>
              <a:buAutoNum type="arabicPeriod"/>
            </a:pPr>
            <a:r>
              <a:rPr lang="en-IN" dirty="0"/>
              <a:t>Hypothesis testing performed via </a:t>
            </a:r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04_statistical_analysis.py </a:t>
            </a:r>
            <a:r>
              <a:rPr lang="en-IN" dirty="0"/>
              <a:t>(Welch's t-test and Chi-Square test of independence). </a:t>
            </a:r>
          </a:p>
          <a:p>
            <a:pPr marL="342900" indent="-342900" algn="ctr">
              <a:buFont typeface="+mj-lt"/>
              <a:buAutoNum type="arabicPeriod"/>
            </a:pPr>
            <a:endParaRPr lang="en-IN" dirty="0"/>
          </a:p>
          <a:p>
            <a:pPr marL="342900" indent="-342900" algn="ctr">
              <a:buFont typeface="+mj-lt"/>
              <a:buAutoNum type="arabicPeriod"/>
            </a:pPr>
            <a:r>
              <a:rPr lang="en-IN" dirty="0"/>
              <a:t>Interactive analytical dashboard developed in Power BI Desktop featuring custom DAX measures, dynamic What-If parameters, and coordinated multi-page navigation.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D2D4358-C2ED-CCBC-F69F-525E25599CD1}"/>
              </a:ext>
            </a:extLst>
          </p:cNvPr>
          <p:cNvSpPr/>
          <p:nvPr/>
        </p:nvSpPr>
        <p:spPr>
          <a:xfrm>
            <a:off x="678426" y="5417574"/>
            <a:ext cx="11139944" cy="1288026"/>
          </a:xfrm>
          <a:prstGeom prst="roundRect">
            <a:avLst/>
          </a:prstGeom>
          <a:solidFill>
            <a:srgbClr val="0F172A"/>
          </a:solidFill>
          <a:ln>
            <a:solidFill>
              <a:srgbClr val="4ADE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/>
              <a:t>Portfolio Project Designed  and Documented by: </a:t>
            </a:r>
            <a:r>
              <a:rPr lang="en-IN" sz="2200" dirty="0">
                <a:solidFill>
                  <a:srgbClr val="FFFF00"/>
                </a:solidFill>
              </a:rPr>
              <a:t>Mahammad Ehtaramullah</a:t>
            </a:r>
          </a:p>
          <a:p>
            <a:pPr algn="ctr"/>
            <a:endParaRPr lang="en-IN" dirty="0"/>
          </a:p>
          <a:p>
            <a:pPr algn="ctr"/>
            <a:r>
              <a:rPr lang="en-IN" dirty="0">
                <a:solidFill>
                  <a:srgbClr val="94A3B8"/>
                </a:solidFill>
              </a:rPr>
              <a:t>Repository includes full Python scripts (01-09), EXCEL files, SQL DDL schemas, Power BI .</a:t>
            </a:r>
            <a:r>
              <a:rPr lang="en-IN" dirty="0" err="1">
                <a:solidFill>
                  <a:srgbClr val="94A3B8"/>
                </a:solidFill>
              </a:rPr>
              <a:t>pbix</a:t>
            </a:r>
            <a:r>
              <a:rPr lang="en-IN" dirty="0">
                <a:solidFill>
                  <a:srgbClr val="94A3B8"/>
                </a:solidFill>
              </a:rPr>
              <a:t> file, and executive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2850525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1782</Words>
  <Application>Microsoft Office PowerPoint</Application>
  <PresentationFormat>Widescreen</PresentationFormat>
  <Paragraphs>145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Segoe UI</vt:lpstr>
      <vt:lpstr>Segoe UI Black</vt:lpstr>
      <vt:lpstr>Segoe UI Semibold</vt:lpstr>
      <vt:lpstr>Wingdings</vt:lpstr>
      <vt:lpstr>Office Theme</vt:lpstr>
      <vt:lpstr>QUICK-COMMERCE UNIT ECONOMICS &amp; LOGISTICS INTELLIGENCE   URBANCART: MARKETPLACE INTELLIGENCE &amp; DARKSTORE OPTIMIZATION  Diagnosing Delivery Deficits, SLA Breaches, and Contribution Margin Recovery  --------------------------------------------------------------------------------------------------------------  Developed By: Mahammad Ehtaramullah  Technical Stack: Python (NumPy/Pandas/SciPy) | Excel | PostgreSQL | Power BI (DAX)  Focus: 7,000 Fulfillment Records | 15 Regional Darkstores | 3-Tier Diagnostic Architecture</vt:lpstr>
      <vt:lpstr> 01. EXECUTIVE CONTEXT | THE UNIT ECONOMICS SQUEEZE Why top-line scale masks bottom-line cash burn in 10-15 minute grocery fulfilment?  </vt:lpstr>
      <vt:lpstr>02. DATA PIPELINE &amp; WAREHOUSE DESIGN Normalizing raw retail events into a performant 3NF star schema in PostgreSQL</vt:lpstr>
      <vt:lpstr>03. INFERENTIAL STATISTICS | HYPOTHESIS TESTING Validating operational assumptions through formal statistical testing in Python (SciPy)</vt:lpstr>
      <vt:lpstr>04. EXECUTIVE REPORTING | MACRO UNIT ECONOMICS High-level monitoring of gross transaction volume against true contribution margin</vt:lpstr>
      <vt:lpstr>05. OPERATIONS AUDIT | DARKSTORE FULFILLMENT &amp; SLA LEAKS Root-cause analysis linking darkstore dispatch delays to delivery failure rates</vt:lpstr>
      <vt:lpstr>PowerPoint Presentation</vt:lpstr>
      <vt:lpstr>07. STRATEGIC POLICY MATRIX | ACTIONABLE INTERVENTIONS Four commercial and operational policy adjustments to recover contribution margin</vt:lpstr>
      <vt:lpstr>08. TECHNICAL STACK &amp; PROJECT ARTIFACTS Summary of engineering artifacts and analytical methodologies applied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Mahammad Ehtaramullah</dc:creator>
  <cp:lastModifiedBy>Mahammad Ehtaramullah</cp:lastModifiedBy>
  <cp:revision>41</cp:revision>
  <dcterms:created xsi:type="dcterms:W3CDTF">2026-10-13T15:46:15Z</dcterms:created>
  <dcterms:modified xsi:type="dcterms:W3CDTF">2026-10-14T15:29:00Z</dcterms:modified>
</cp:coreProperties>
</file>